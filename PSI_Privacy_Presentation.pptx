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et Singh" userId="c91d15cc9bf2e63c" providerId="LiveId" clId="{8EAD3417-C990-4BB1-921C-A7E2C2BC2F45}"/>
    <pc:docChg chg="undo custSel modSld">
      <pc:chgData name="Aniket Singh" userId="c91d15cc9bf2e63c" providerId="LiveId" clId="{8EAD3417-C990-4BB1-921C-A7E2C2BC2F45}" dt="2026-03-23T17:29:21.517" v="60" actId="255"/>
      <pc:docMkLst>
        <pc:docMk/>
      </pc:docMkLst>
      <pc:sldChg chg="modSp mod">
        <pc:chgData name="Aniket Singh" userId="c91d15cc9bf2e63c" providerId="LiveId" clId="{8EAD3417-C990-4BB1-921C-A7E2C2BC2F45}" dt="2026-03-23T17:29:21.517" v="60" actId="255"/>
        <pc:sldMkLst>
          <pc:docMk/>
          <pc:sldMk cId="0" sldId="256"/>
        </pc:sldMkLst>
        <pc:spChg chg="mod">
          <ac:chgData name="Aniket Singh" userId="c91d15cc9bf2e63c" providerId="LiveId" clId="{8EAD3417-C990-4BB1-921C-A7E2C2BC2F45}" dt="2026-03-23T17:28:02.985" v="57" actId="1076"/>
          <ac:spMkLst>
            <pc:docMk/>
            <pc:sldMk cId="0" sldId="256"/>
            <ac:spMk id="2" creationId="{00000000-0000-0000-0000-000000000000}"/>
          </ac:spMkLst>
        </pc:spChg>
        <pc:spChg chg="mod">
          <ac:chgData name="Aniket Singh" userId="c91d15cc9bf2e63c" providerId="LiveId" clId="{8EAD3417-C990-4BB1-921C-A7E2C2BC2F45}" dt="2026-03-23T17:29:21.517" v="60" actId="255"/>
          <ac:spMkLst>
            <pc:docMk/>
            <pc:sldMk cId="0" sldId="256"/>
            <ac:spMk id="6" creationId="{00000000-0000-0000-0000-000000000000}"/>
          </ac:spMkLst>
        </pc:spChg>
        <pc:spChg chg="mod">
          <ac:chgData name="Aniket Singh" userId="c91d15cc9bf2e63c" providerId="LiveId" clId="{8EAD3417-C990-4BB1-921C-A7E2C2BC2F45}" dt="2026-03-23T17:27:28.967" v="52" actId="20577"/>
          <ac:spMkLst>
            <pc:docMk/>
            <pc:sldMk cId="0" sldId="256"/>
            <ac:spMk id="7" creationId="{00000000-0000-0000-0000-000000000000}"/>
          </ac:spMkLst>
        </pc:spChg>
        <pc:spChg chg="mod">
          <ac:chgData name="Aniket Singh" userId="c91d15cc9bf2e63c" providerId="LiveId" clId="{8EAD3417-C990-4BB1-921C-A7E2C2BC2F45}" dt="2026-03-23T17:27:35.731" v="53" actId="20577"/>
          <ac:spMkLst>
            <pc:docMk/>
            <pc:sldMk cId="0" sldId="256"/>
            <ac:spMk id="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A1628"/>
                </a:solidFill>
                <a:latin typeface="Arial"/>
              </a:defRPr>
            </a:pPr>
            <a:r>
              <a:rPr sz="1100" b="0" i="0" u="none" strike="noStrike">
                <a:solidFill>
                  <a:srgbClr val="0A1628"/>
                </a:solidFill>
                <a:latin typeface="Arial"/>
              </a:rPr>
              <a:t>Computation time at n=5,000 (ms)</a:t>
            </a:r>
          </a:p>
        </c:rich>
      </c:tx>
      <c:overlay val="0"/>
    </c:title>
    <c:autoTitleDeleted val="0"/>
    <c:plotArea>
      <c:layout/>
      <c:barChart>
        <c:barDir val="col"/>
        <c:grouping val="clustered"/>
        <c:varyColors val="0"/>
        <c:ser>
          <c:idx val="0"/>
          <c:order val="0"/>
          <c:tx>
            <c:strRef>
              <c:f>Sheet1!$B$1</c:f>
              <c:strCache>
                <c:ptCount val="1"/>
                <c:pt idx="0">
                  <c:v>Time (ms) at n = 5,000</c:v>
                </c:pt>
              </c:strCache>
            </c:strRef>
          </c:tx>
          <c:spPr>
            <a:solidFill>
              <a:srgbClr val="FC5C65"/>
            </a:solidFill>
            <a:effectLst/>
          </c:spPr>
          <c:invertIfNegative val="0"/>
          <c:dPt>
            <c:idx val="0"/>
            <c:invertIfNegative val="0"/>
            <c:bubble3D val="0"/>
            <c:extLst>
              <c:ext xmlns:c16="http://schemas.microsoft.com/office/drawing/2014/chart" uri="{C3380CC4-5D6E-409C-BE32-E72D297353CC}">
                <c16:uniqueId val="{00000001-3311-4D76-BBD2-9E570D82ACA8}"/>
              </c:ext>
            </c:extLst>
          </c:dPt>
          <c:dPt>
            <c:idx val="1"/>
            <c:invertIfNegative val="0"/>
            <c:bubble3D val="0"/>
            <c:spPr>
              <a:solidFill>
                <a:srgbClr val="EF9F27"/>
              </a:solidFill>
              <a:effectLst/>
            </c:spPr>
            <c:extLst>
              <c:ext xmlns:c16="http://schemas.microsoft.com/office/drawing/2014/chart" uri="{C3380CC4-5D6E-409C-BE32-E72D297353CC}">
                <c16:uniqueId val="{00000003-3311-4D76-BBD2-9E570D82ACA8}"/>
              </c:ext>
            </c:extLst>
          </c:dPt>
          <c:dPt>
            <c:idx val="2"/>
            <c:invertIfNegative val="0"/>
            <c:bubble3D val="0"/>
            <c:spPr>
              <a:solidFill>
                <a:srgbClr val="1D9E75"/>
              </a:solidFill>
              <a:effectLst/>
            </c:spPr>
            <c:extLst>
              <c:ext xmlns:c16="http://schemas.microsoft.com/office/drawing/2014/chart" uri="{C3380CC4-5D6E-409C-BE32-E72D297353CC}">
                <c16:uniqueId val="{00000005-3311-4D76-BBD2-9E570D82ACA8}"/>
              </c:ext>
            </c:extLst>
          </c:dPt>
          <c:dLbls>
            <c:numFmt formatCode="#,##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RSA-based PSI</c:v>
                </c:pt>
                <c:pt idx="1">
                  <c:v>OPRF-based PSI</c:v>
                </c:pt>
                <c:pt idx="2">
                  <c:v>ECDH-PSI
(Proposed)</c:v>
                </c:pt>
              </c:strCache>
            </c:strRef>
          </c:cat>
          <c:val>
            <c:numRef>
              <c:f>Sheet1!$B$2:$B$4</c:f>
              <c:numCache>
                <c:formatCode>General</c:formatCode>
                <c:ptCount val="3"/>
                <c:pt idx="0">
                  <c:v>4282</c:v>
                </c:pt>
                <c:pt idx="1">
                  <c:v>1485</c:v>
                </c:pt>
                <c:pt idx="2">
                  <c:v>594</c:v>
                </c:pt>
              </c:numCache>
            </c:numRef>
          </c:val>
          <c:extLst>
            <c:ext xmlns:c16="http://schemas.microsoft.com/office/drawing/2014/chart" uri="{C3380CC4-5D6E-409C-BE32-E72D297353CC}">
              <c16:uniqueId val="{00000006-3311-4D76-BBD2-9E570D82AC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AFA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Proposed ECDH-PSI</c:v>
                </c:pt>
              </c:strCache>
            </c:strRef>
          </c:tx>
          <c:spPr>
            <a:ln w="31750" cap="flat">
              <a:solidFill>
                <a:srgbClr val="1D9E75"/>
              </a:solidFill>
              <a:prstDash val="solid"/>
              <a:round/>
            </a:ln>
            <a:effectLst/>
          </c:spPr>
          <c:marker>
            <c:symbol val="circle"/>
            <c:size val="6"/>
            <c:spPr>
              <a:solidFill>
                <a:srgbClr val="1D9E75"/>
              </a:solidFill>
              <a:ln w="9525" cap="flat">
                <a:solidFill>
                  <a:srgbClr val="1D9E75"/>
                </a:solidFill>
                <a:prstDash val="solid"/>
                <a:round/>
              </a:ln>
              <a:effectLst/>
            </c:spPr>
          </c:marker>
          <c:cat>
            <c:strRef>
              <c:f>Sheet1!$A$2:$A$6</c:f>
              <c:strCache>
                <c:ptCount val="5"/>
                <c:pt idx="0">
                  <c:v>100</c:v>
                </c:pt>
                <c:pt idx="1">
                  <c:v>500</c:v>
                </c:pt>
                <c:pt idx="2">
                  <c:v>1,000</c:v>
                </c:pt>
                <c:pt idx="3">
                  <c:v>2,500</c:v>
                </c:pt>
                <c:pt idx="4">
                  <c:v>5,000</c:v>
                </c:pt>
              </c:strCache>
            </c:strRef>
          </c:cat>
          <c:val>
            <c:numRef>
              <c:f>Sheet1!$B$2:$B$6</c:f>
              <c:numCache>
                <c:formatCode>General</c:formatCode>
                <c:ptCount val="5"/>
                <c:pt idx="0">
                  <c:v>12.4</c:v>
                </c:pt>
                <c:pt idx="1">
                  <c:v>58.7</c:v>
                </c:pt>
                <c:pt idx="2">
                  <c:v>118.3</c:v>
                </c:pt>
                <c:pt idx="3">
                  <c:v>296.10000000000002</c:v>
                </c:pt>
                <c:pt idx="4">
                  <c:v>594.20000000000005</c:v>
                </c:pt>
              </c:numCache>
            </c:numRef>
          </c:val>
          <c:smooth val="0"/>
          <c:extLst>
            <c:ext xmlns:c16="http://schemas.microsoft.com/office/drawing/2014/chart" uri="{C3380CC4-5D6E-409C-BE32-E72D297353CC}">
              <c16:uniqueId val="{00000000-37F9-45EC-83A4-8246E6E05AC4}"/>
            </c:ext>
          </c:extLst>
        </c:ser>
        <c:ser>
          <c:idx val="1"/>
          <c:order val="1"/>
          <c:tx>
            <c:strRef>
              <c:f>Sheet1!$C$1</c:f>
              <c:strCache>
                <c:ptCount val="1"/>
                <c:pt idx="0">
                  <c:v>RSA-based PSI</c:v>
                </c:pt>
              </c:strCache>
            </c:strRef>
          </c:tx>
          <c:spPr>
            <a:ln w="31750" cap="flat">
              <a:solidFill>
                <a:srgbClr val="FC5C65"/>
              </a:solidFill>
              <a:prstDash val="solid"/>
              <a:round/>
            </a:ln>
            <a:effectLst/>
          </c:spPr>
          <c:marker>
            <c:symbol val="circle"/>
            <c:size val="6"/>
            <c:spPr>
              <a:solidFill>
                <a:srgbClr val="FC5C65"/>
              </a:solidFill>
              <a:ln w="9525" cap="flat">
                <a:solidFill>
                  <a:srgbClr val="FC5C65"/>
                </a:solidFill>
                <a:prstDash val="solid"/>
                <a:round/>
              </a:ln>
              <a:effectLst/>
            </c:spPr>
          </c:marker>
          <c:cat>
            <c:strRef>
              <c:f>Sheet1!$A$2:$A$6</c:f>
              <c:strCache>
                <c:ptCount val="5"/>
                <c:pt idx="0">
                  <c:v>100</c:v>
                </c:pt>
                <c:pt idx="1">
                  <c:v>500</c:v>
                </c:pt>
                <c:pt idx="2">
                  <c:v>1,000</c:v>
                </c:pt>
                <c:pt idx="3">
                  <c:v>2,500</c:v>
                </c:pt>
                <c:pt idx="4">
                  <c:v>5,000</c:v>
                </c:pt>
              </c:strCache>
            </c:strRef>
          </c:cat>
          <c:val>
            <c:numRef>
              <c:f>Sheet1!$C$2:$C$6</c:f>
              <c:numCache>
                <c:formatCode>General</c:formatCode>
                <c:ptCount val="5"/>
                <c:pt idx="0">
                  <c:v>89</c:v>
                </c:pt>
                <c:pt idx="1">
                  <c:v>424</c:v>
                </c:pt>
                <c:pt idx="2">
                  <c:v>852</c:v>
                </c:pt>
                <c:pt idx="3">
                  <c:v>2132</c:v>
                </c:pt>
                <c:pt idx="4">
                  <c:v>4282</c:v>
                </c:pt>
              </c:numCache>
            </c:numRef>
          </c:val>
          <c:smooth val="0"/>
          <c:extLst>
            <c:ext xmlns:c16="http://schemas.microsoft.com/office/drawing/2014/chart" uri="{C3380CC4-5D6E-409C-BE32-E72D297353CC}">
              <c16:uniqueId val="{00000001-37F9-45EC-83A4-8246E6E05AC4}"/>
            </c:ext>
          </c:extLst>
        </c:ser>
        <c:ser>
          <c:idx val="2"/>
          <c:order val="2"/>
          <c:tx>
            <c:strRef>
              <c:f>Sheet1!$D$1</c:f>
              <c:strCache>
                <c:ptCount val="1"/>
                <c:pt idx="0">
                  <c:v>OPRF-based PSI</c:v>
                </c:pt>
              </c:strCache>
            </c:strRef>
          </c:tx>
          <c:spPr>
            <a:ln w="31750" cap="flat">
              <a:solidFill>
                <a:srgbClr val="EF9F27"/>
              </a:solidFill>
              <a:prstDash val="solid"/>
              <a:round/>
            </a:ln>
            <a:effectLst/>
          </c:spPr>
          <c:marker>
            <c:symbol val="circle"/>
            <c:size val="6"/>
            <c:spPr>
              <a:solidFill>
                <a:srgbClr val="EF9F27"/>
              </a:solidFill>
              <a:ln w="9525" cap="flat">
                <a:solidFill>
                  <a:srgbClr val="EF9F27"/>
                </a:solidFill>
                <a:prstDash val="solid"/>
                <a:round/>
              </a:ln>
              <a:effectLst/>
            </c:spPr>
          </c:marker>
          <c:cat>
            <c:strRef>
              <c:f>Sheet1!$A$2:$A$6</c:f>
              <c:strCache>
                <c:ptCount val="5"/>
                <c:pt idx="0">
                  <c:v>100</c:v>
                </c:pt>
                <c:pt idx="1">
                  <c:v>500</c:v>
                </c:pt>
                <c:pt idx="2">
                  <c:v>1,000</c:v>
                </c:pt>
                <c:pt idx="3">
                  <c:v>2,500</c:v>
                </c:pt>
                <c:pt idx="4">
                  <c:v>5,000</c:v>
                </c:pt>
              </c:strCache>
            </c:strRef>
          </c:cat>
          <c:val>
            <c:numRef>
              <c:f>Sheet1!$D$2:$D$6</c:f>
              <c:numCache>
                <c:formatCode>General</c:formatCode>
                <c:ptCount val="5"/>
                <c:pt idx="0">
                  <c:v>31</c:v>
                </c:pt>
                <c:pt idx="1">
                  <c:v>147</c:v>
                </c:pt>
                <c:pt idx="2">
                  <c:v>296</c:v>
                </c:pt>
                <c:pt idx="3">
                  <c:v>740</c:v>
                </c:pt>
                <c:pt idx="4">
                  <c:v>1485</c:v>
                </c:pt>
              </c:numCache>
            </c:numRef>
          </c:val>
          <c:smooth val="0"/>
          <c:extLst>
            <c:ext xmlns:c16="http://schemas.microsoft.com/office/drawing/2014/chart" uri="{C3380CC4-5D6E-409C-BE32-E72D297353CC}">
              <c16:uniqueId val="{00000002-37F9-45EC-83A4-8246E6E05AC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pPr>
          <a:endParaRPr lang="en-US"/>
        </a:p>
      </c:txPr>
    </c:legend>
    <c:plotVisOnly val="1"/>
    <c:dispBlanksAs val="span"/>
    <c:showDLblsOverMax val="1"/>
  </c:chart>
  <c:spPr>
    <a:solidFill>
      <a:srgbClr val="FAFA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017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not hypothetical. Hagen et al. (2021) demonstrated live enumeration attacks against major platforms, recovering millions of phone registration statuses with minimal computational effort. Contact lists reveal occupational, familial, and political relationships — all of which can be exploited for targeted advertising, surveillance, or social engineering.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sealed-envelope analogy — both parties put their lists in sealed envelopes and only the overlap emerges without either envelope being opened. PSI is a cryptographic primitive studied since the 1980s but only practical at scale with modern elliptic curve techniques.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Semi-honest means both parties follow the protocol correctly but may try to infer extra information from what they receive. This is appropriate for commercial platforms that have contractual and reputational incentives to follow the protocol. The four-row table defines precisely what each party is and is not allowed to learn.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normalizes all contact identifiers to a fixed-length 256-bit curve point via SHA-256. This is essential because identical contacts stored in different canonical formats must produce identical hash values. Phase 2 blinds each point with randomly chosen scalar a. Shuffling the order prevents statistical inference from transmission patterns.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commutativity of scalar multiplication is the central mathematical insight. A locks then B locks on top gives the same result as B locks then A locks on top. Walk through this slowly — it is the key 'aha' moment. The O(n) hash-set lookup is fast even for large sets, and the local lookup table mapping blinded points to real names is constructed on the client and never transmitted.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Scalar multiplication on an elliptic curve is fundamentally faster than modular exponentiation over large RSA groups needed for equivalent security. The compact key size is especially valuable on mobile devices where battery and bandwidth are constrained. The bar chart illustrates this empirically — 7.2x faster than RSA at 5,000 contacts.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ephemeral scalar generation — fresh a and b per session via os.urandom() — is what provides replay attack resistance. Stale session transcripts are statistically independent of new sessions and provide zero advantage to an adversary. The preprocessing module handles E.164 normalization so that identical contacts in different formats produce identical hashes.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grows at almost exactly the same rate as n — factor 49.5 versus dataset factor 50 — confirming theoretical O(n) complexity experimentally. Encryption dominates because each contact requires one elliptic curve scalar multiplication. The slight super-linear growth at n=5,000 is Python interpreter overhead that would vanish in a native compiled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the semi-honest limitation — a malicious server deviating from the protocol is not covered. This motivates the future work on zero-knowledge proofs of correct scalar multiplication. For commercial deployment, semi-honest is appropriate because platforms have strong legal and reputational incentives to follow the protocol faithfully.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Semi-honest security is not a weakness in the context of commercial deployment — platforms have strong legal and reputational incentives to follow the protocol. The gap to malicious security is a research direction, not a deployment blocker. The ZK proof extension would significantly increase overhead but provide the strongest possible security guarantees.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key positioning statement: this system is stronger than WhatsApp's legacy upload-and-compare model, while being significantly simpler to deploy than Signal's full malicious-secure PSI. It represents a pragmatic, immediately actionable middle ground that any messaging platform could deploy today to substantially improve user privacy.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82296" cy="5143500"/>
          </a:xfrm>
          <a:prstGeom prst="rect">
            <a:avLst/>
          </a:prstGeom>
          <a:solidFill>
            <a:srgbClr val="1D9E75"/>
          </a:solidFill>
          <a:ln w="12700">
            <a:solidFill>
              <a:srgbClr val="1D9E75"/>
            </a:solidFill>
            <a:prstDash val="solid"/>
          </a:ln>
        </p:spPr>
      </p:sp>
      <p:sp>
        <p:nvSpPr>
          <p:cNvPr id="3" name="Text 1"/>
          <p:cNvSpPr/>
          <p:nvPr/>
        </p:nvSpPr>
        <p:spPr>
          <a:xfrm>
            <a:off x="457200" y="594360"/>
            <a:ext cx="8229600" cy="1371600"/>
          </a:xfrm>
          <a:prstGeom prst="rect">
            <a:avLst/>
          </a:prstGeom>
          <a:noFill/>
          <a:ln/>
        </p:spPr>
        <p:txBody>
          <a:bodyPr wrap="square" rtlCol="0" anchor="ctr"/>
          <a:lstStyle/>
          <a:p>
            <a:pPr marL="0" indent="0" algn="ctr">
              <a:buNone/>
            </a:pPr>
            <a:r>
              <a:rPr lang="en-US" sz="2900" b="1" dirty="0">
                <a:solidFill>
                  <a:srgbClr val="FFFFFF"/>
                </a:solidFill>
              </a:rPr>
              <a:t>Privacy-Preserving Contact Discovery</a:t>
            </a:r>
            <a:endParaRPr lang="en-US" sz="2900" dirty="0"/>
          </a:p>
          <a:p>
            <a:pPr marL="0" indent="0" algn="ctr">
              <a:buNone/>
            </a:pPr>
            <a:r>
              <a:rPr lang="en-US" sz="2900" b="1" dirty="0">
                <a:solidFill>
                  <a:srgbClr val="FFFFFF"/>
                </a:solidFill>
              </a:rPr>
              <a:t>for Secure Communication Systems</a:t>
            </a:r>
            <a:endParaRPr lang="en-US" sz="2900" dirty="0"/>
          </a:p>
        </p:txBody>
      </p:sp>
      <p:sp>
        <p:nvSpPr>
          <p:cNvPr id="4" name="Text 2"/>
          <p:cNvSpPr/>
          <p:nvPr/>
        </p:nvSpPr>
        <p:spPr>
          <a:xfrm>
            <a:off x="457200" y="1874520"/>
            <a:ext cx="8229600" cy="502920"/>
          </a:xfrm>
          <a:prstGeom prst="rect">
            <a:avLst/>
          </a:prstGeom>
          <a:noFill/>
          <a:ln/>
        </p:spPr>
        <p:txBody>
          <a:bodyPr wrap="square" rtlCol="0" anchor="ctr"/>
          <a:lstStyle/>
          <a:p>
            <a:pPr marL="0" indent="0" algn="ctr">
              <a:buNone/>
            </a:pPr>
            <a:r>
              <a:rPr lang="en-US" sz="1900" i="1" dirty="0">
                <a:solidFill>
                  <a:srgbClr val="9FE1CB"/>
                </a:solidFill>
              </a:rPr>
              <a:t>Using Elliptic Curve-Based Private Set Intersection</a:t>
            </a:r>
            <a:endParaRPr lang="en-US" sz="1900" dirty="0"/>
          </a:p>
        </p:txBody>
      </p:sp>
      <p:sp>
        <p:nvSpPr>
          <p:cNvPr id="5" name="Shape 3"/>
          <p:cNvSpPr/>
          <p:nvPr/>
        </p:nvSpPr>
        <p:spPr>
          <a:xfrm>
            <a:off x="1371600" y="2514600"/>
            <a:ext cx="6400800" cy="0"/>
          </a:xfrm>
          <a:prstGeom prst="line">
            <a:avLst/>
          </a:prstGeom>
          <a:noFill/>
          <a:ln w="25400">
            <a:solidFill>
              <a:srgbClr val="1D9E75"/>
            </a:solidFill>
            <a:prstDash val="solid"/>
          </a:ln>
        </p:spPr>
      </p:sp>
      <p:sp>
        <p:nvSpPr>
          <p:cNvPr id="6" name="Text 4"/>
          <p:cNvSpPr/>
          <p:nvPr/>
        </p:nvSpPr>
        <p:spPr>
          <a:xfrm>
            <a:off x="-103238" y="2887735"/>
            <a:ext cx="8915400" cy="769865"/>
          </a:xfrm>
          <a:prstGeom prst="rect">
            <a:avLst/>
          </a:prstGeom>
          <a:noFill/>
          <a:ln/>
        </p:spPr>
        <p:txBody>
          <a:bodyPr wrap="square" rtlCol="0" anchor="ctr"/>
          <a:lstStyle/>
          <a:p>
            <a:pPr marL="285750" indent="-285750" algn="ctr">
              <a:buFont typeface="Arial" panose="020B0604020202020204" pitchFamily="34" charset="0"/>
              <a:buChar char="•"/>
            </a:pPr>
            <a:r>
              <a:rPr lang="en-US" sz="1600" b="1" dirty="0">
                <a:solidFill>
                  <a:srgbClr val="CBD5E1"/>
                </a:solidFill>
              </a:rPr>
              <a:t>Aniket Kumar Singh</a:t>
            </a:r>
          </a:p>
          <a:p>
            <a:pPr marL="285750" indent="-285750" algn="ctr">
              <a:buFont typeface="Arial" panose="020B0604020202020204" pitchFamily="34" charset="0"/>
              <a:buChar char="•"/>
            </a:pPr>
            <a:r>
              <a:rPr lang="en-US" sz="1600" b="1" dirty="0">
                <a:solidFill>
                  <a:srgbClr val="CBD5E1"/>
                </a:solidFill>
              </a:rPr>
              <a:t>CH.SC.U4CSE23161</a:t>
            </a:r>
          </a:p>
          <a:p>
            <a:pPr marL="0" indent="0" algn="ctr">
              <a:buNone/>
            </a:pPr>
            <a:endParaRPr lang="en-US" sz="1300" dirty="0"/>
          </a:p>
        </p:txBody>
      </p:sp>
      <p:sp>
        <p:nvSpPr>
          <p:cNvPr id="7" name="Text 5"/>
          <p:cNvSpPr/>
          <p:nvPr/>
        </p:nvSpPr>
        <p:spPr>
          <a:xfrm>
            <a:off x="331838" y="3661435"/>
            <a:ext cx="8229600" cy="292608"/>
          </a:xfrm>
          <a:prstGeom prst="rect">
            <a:avLst/>
          </a:prstGeom>
          <a:noFill/>
          <a:ln/>
        </p:spPr>
        <p:txBody>
          <a:bodyPr wrap="square" rtlCol="0" anchor="ctr"/>
          <a:lstStyle/>
          <a:p>
            <a:pPr marL="0" indent="0" algn="ctr">
              <a:buNone/>
            </a:pPr>
            <a:r>
              <a:rPr lang="en-US" sz="1200" dirty="0">
                <a:solidFill>
                  <a:srgbClr val="94A3B8"/>
                </a:solidFill>
              </a:rPr>
              <a:t>Department of Computer Science  |  Amrita University  |  2026</a:t>
            </a:r>
            <a:endParaRPr lang="en-US" sz="1200" dirty="0"/>
          </a:p>
        </p:txBody>
      </p:sp>
      <p:sp>
        <p:nvSpPr>
          <p:cNvPr id="8" name="Shape 6"/>
          <p:cNvSpPr/>
          <p:nvPr/>
        </p:nvSpPr>
        <p:spPr>
          <a:xfrm>
            <a:off x="0" y="4663440"/>
            <a:ext cx="9144000" cy="480060"/>
          </a:xfrm>
          <a:prstGeom prst="rect">
            <a:avLst/>
          </a:prstGeom>
          <a:solidFill>
            <a:srgbClr val="0D1F38"/>
          </a:solidFill>
          <a:ln w="12700">
            <a:solidFill>
              <a:srgbClr val="0D1F38"/>
            </a:solidFill>
            <a:prstDash val="solid"/>
          </a:ln>
        </p:spPr>
      </p:sp>
      <p:sp>
        <p:nvSpPr>
          <p:cNvPr id="9" name="Text 7"/>
          <p:cNvSpPr/>
          <p:nvPr/>
        </p:nvSpPr>
        <p:spPr>
          <a:xfrm>
            <a:off x="457200" y="4663440"/>
            <a:ext cx="8229600" cy="480060"/>
          </a:xfrm>
          <a:prstGeom prst="rect">
            <a:avLst/>
          </a:prstGeom>
          <a:noFill/>
          <a:ln/>
        </p:spPr>
        <p:txBody>
          <a:bodyPr wrap="square" rtlCol="0" anchor="ctr"/>
          <a:lstStyle/>
          <a:p>
            <a:pPr marL="0" indent="0" algn="ctr">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Why contact discovery is a privacy risk</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2</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822960"/>
            <a:ext cx="54864" cy="594360"/>
          </a:xfrm>
          <a:prstGeom prst="rect">
            <a:avLst/>
          </a:prstGeom>
          <a:solidFill>
            <a:srgbClr val="1D9E75"/>
          </a:solidFill>
          <a:ln w="12700">
            <a:solidFill>
              <a:srgbClr val="1D9E75"/>
            </a:solidFill>
            <a:prstDash val="solid"/>
          </a:ln>
        </p:spPr>
      </p:sp>
      <p:sp>
        <p:nvSpPr>
          <p:cNvPr id="7" name="Text 5"/>
          <p:cNvSpPr/>
          <p:nvPr/>
        </p:nvSpPr>
        <p:spPr>
          <a:xfrm>
            <a:off x="457200" y="777240"/>
            <a:ext cx="5029200" cy="713232"/>
          </a:xfrm>
          <a:prstGeom prst="rect">
            <a:avLst/>
          </a:prstGeom>
          <a:noFill/>
          <a:ln/>
        </p:spPr>
        <p:txBody>
          <a:bodyPr wrap="square" rtlCol="0" anchor="ctr"/>
          <a:lstStyle/>
          <a:p>
            <a:pPr marL="0" indent="0">
              <a:buNone/>
            </a:pPr>
            <a:r>
              <a:rPr lang="en-US" sz="1250" b="1" dirty="0">
                <a:solidFill>
                  <a:srgbClr val="0A1628"/>
                </a:solidFill>
              </a:rPr>
              <a:t>Full address book exposure — </a:t>
            </a:r>
            <a:r>
              <a:rPr lang="en-US" sz="1250" dirty="0">
                <a:solidFill>
                  <a:srgbClr val="334155"/>
                </a:solidFill>
              </a:rPr>
              <a:t>Conventional apps upload every contact to a central server, revealing your entire social graph.</a:t>
            </a:r>
            <a:endParaRPr lang="en-US" sz="1250" dirty="0"/>
          </a:p>
        </p:txBody>
      </p:sp>
      <p:sp>
        <p:nvSpPr>
          <p:cNvPr id="8" name="Shape 6"/>
          <p:cNvSpPr/>
          <p:nvPr/>
        </p:nvSpPr>
        <p:spPr>
          <a:xfrm>
            <a:off x="274320" y="1737360"/>
            <a:ext cx="54864" cy="594360"/>
          </a:xfrm>
          <a:prstGeom prst="rect">
            <a:avLst/>
          </a:prstGeom>
          <a:solidFill>
            <a:srgbClr val="1D9E75"/>
          </a:solidFill>
          <a:ln w="12700">
            <a:solidFill>
              <a:srgbClr val="1D9E75"/>
            </a:solidFill>
            <a:prstDash val="solid"/>
          </a:ln>
        </p:spPr>
      </p:sp>
      <p:sp>
        <p:nvSpPr>
          <p:cNvPr id="9" name="Text 7"/>
          <p:cNvSpPr/>
          <p:nvPr/>
        </p:nvSpPr>
        <p:spPr>
          <a:xfrm>
            <a:off x="457200" y="1691640"/>
            <a:ext cx="5029200" cy="713232"/>
          </a:xfrm>
          <a:prstGeom prst="rect">
            <a:avLst/>
          </a:prstGeom>
          <a:noFill/>
          <a:ln/>
        </p:spPr>
        <p:txBody>
          <a:bodyPr wrap="square" rtlCol="0" anchor="ctr"/>
          <a:lstStyle/>
          <a:p>
            <a:pPr marL="0" indent="0">
              <a:buNone/>
            </a:pPr>
            <a:r>
              <a:rPr lang="en-US" sz="1250" b="1" dirty="0">
                <a:solidFill>
                  <a:srgbClr val="0A1628"/>
                </a:solidFill>
              </a:rPr>
              <a:t>Third-party consent violation — </a:t>
            </a:r>
            <a:r>
              <a:rPr lang="en-US" sz="1250" dirty="0">
                <a:solidFill>
                  <a:srgbClr val="334155"/>
                </a:solidFill>
              </a:rPr>
              <a:t>Friends in your contact list never agreed to share their data with the platform.</a:t>
            </a:r>
            <a:endParaRPr lang="en-US" sz="1250" dirty="0"/>
          </a:p>
        </p:txBody>
      </p:sp>
      <p:sp>
        <p:nvSpPr>
          <p:cNvPr id="10" name="Shape 8"/>
          <p:cNvSpPr/>
          <p:nvPr/>
        </p:nvSpPr>
        <p:spPr>
          <a:xfrm>
            <a:off x="274320" y="2651760"/>
            <a:ext cx="54864" cy="594360"/>
          </a:xfrm>
          <a:prstGeom prst="rect">
            <a:avLst/>
          </a:prstGeom>
          <a:solidFill>
            <a:srgbClr val="1D9E75"/>
          </a:solidFill>
          <a:ln w="12700">
            <a:solidFill>
              <a:srgbClr val="1D9E75"/>
            </a:solidFill>
            <a:prstDash val="solid"/>
          </a:ln>
        </p:spPr>
      </p:sp>
      <p:sp>
        <p:nvSpPr>
          <p:cNvPr id="11" name="Text 9"/>
          <p:cNvSpPr/>
          <p:nvPr/>
        </p:nvSpPr>
        <p:spPr>
          <a:xfrm>
            <a:off x="457200" y="2606040"/>
            <a:ext cx="5029200" cy="713232"/>
          </a:xfrm>
          <a:prstGeom prst="rect">
            <a:avLst/>
          </a:prstGeom>
          <a:noFill/>
          <a:ln/>
        </p:spPr>
        <p:txBody>
          <a:bodyPr wrap="square" rtlCol="0" anchor="ctr"/>
          <a:lstStyle/>
          <a:p>
            <a:pPr marL="0" indent="0">
              <a:buNone/>
            </a:pPr>
            <a:r>
              <a:rPr lang="en-US" sz="1250" b="1" dirty="0">
                <a:solidFill>
                  <a:srgbClr val="0A1628"/>
                </a:solidFill>
              </a:rPr>
              <a:t>Enumeration attacks — </a:t>
            </a:r>
            <a:r>
              <a:rPr lang="en-US" sz="1250" dirty="0">
                <a:solidFill>
                  <a:srgbClr val="334155"/>
                </a:solidFill>
              </a:rPr>
              <a:t>Researchers showed automated API queries can recover the registration status of millions of numbers cheaply.</a:t>
            </a:r>
            <a:endParaRPr lang="en-US" sz="1250" dirty="0"/>
          </a:p>
        </p:txBody>
      </p:sp>
      <p:sp>
        <p:nvSpPr>
          <p:cNvPr id="12" name="Shape 10"/>
          <p:cNvSpPr/>
          <p:nvPr/>
        </p:nvSpPr>
        <p:spPr>
          <a:xfrm>
            <a:off x="5806440" y="804672"/>
            <a:ext cx="1371600" cy="1920240"/>
          </a:xfrm>
          <a:prstGeom prst="roundRect">
            <a:avLst>
              <a:gd name="adj" fmla="val 6667"/>
            </a:avLst>
          </a:prstGeom>
          <a:solidFill>
            <a:srgbClr val="EFF6FF"/>
          </a:solidFill>
          <a:ln w="19050">
            <a:solidFill>
              <a:srgbClr val="93C5FD"/>
            </a:solidFill>
            <a:prstDash val="solid"/>
          </a:ln>
        </p:spPr>
      </p:sp>
      <p:sp>
        <p:nvSpPr>
          <p:cNvPr id="13" name="Text 11"/>
          <p:cNvSpPr/>
          <p:nvPr/>
        </p:nvSpPr>
        <p:spPr>
          <a:xfrm>
            <a:off x="5806440" y="804672"/>
            <a:ext cx="1371600" cy="1920240"/>
          </a:xfrm>
          <a:prstGeom prst="rect">
            <a:avLst/>
          </a:prstGeom>
          <a:noFill/>
          <a:ln/>
        </p:spPr>
        <p:txBody>
          <a:bodyPr wrap="square" rtlCol="0" anchor="ctr"/>
          <a:lstStyle/>
          <a:p>
            <a:pPr marL="0" indent="0" algn="ctr">
              <a:buNone/>
            </a:pPr>
            <a:r>
              <a:rPr lang="en-US" sz="1200" b="1" dirty="0">
                <a:solidFill>
                  <a:srgbClr val="1D4ED8"/>
                </a:solidFill>
              </a:rPr>
              <a:t>[ Phone ]</a:t>
            </a:r>
            <a:endParaRPr lang="en-US" sz="1200" dirty="0"/>
          </a:p>
        </p:txBody>
      </p:sp>
      <p:sp>
        <p:nvSpPr>
          <p:cNvPr id="14" name="Text 12"/>
          <p:cNvSpPr/>
          <p:nvPr/>
        </p:nvSpPr>
        <p:spPr>
          <a:xfrm>
            <a:off x="7223760" y="1280160"/>
            <a:ext cx="914400" cy="548640"/>
          </a:xfrm>
          <a:prstGeom prst="rect">
            <a:avLst/>
          </a:prstGeom>
          <a:noFill/>
          <a:ln/>
        </p:spPr>
        <p:txBody>
          <a:bodyPr wrap="square" rtlCol="0" anchor="ctr"/>
          <a:lstStyle/>
          <a:p>
            <a:pPr marL="0" indent="0" algn="ctr">
              <a:buNone/>
            </a:pPr>
            <a:r>
              <a:rPr lang="en-US" sz="900" dirty="0">
                <a:solidFill>
                  <a:srgbClr val="E53E3E"/>
                </a:solidFill>
              </a:rPr>
              <a:t>Your full contact</a:t>
            </a:r>
            <a:endParaRPr lang="en-US" sz="900" dirty="0"/>
          </a:p>
          <a:p>
            <a:pPr marL="0" indent="0" algn="ctr">
              <a:buNone/>
            </a:pPr>
            <a:r>
              <a:rPr lang="en-US" sz="900" dirty="0">
                <a:solidFill>
                  <a:srgbClr val="E53E3E"/>
                </a:solidFill>
              </a:rPr>
              <a:t>list uploaded  →</a:t>
            </a:r>
            <a:endParaRPr lang="en-US" sz="900" dirty="0"/>
          </a:p>
        </p:txBody>
      </p:sp>
      <p:sp>
        <p:nvSpPr>
          <p:cNvPr id="15" name="Shape 13"/>
          <p:cNvSpPr/>
          <p:nvPr/>
        </p:nvSpPr>
        <p:spPr>
          <a:xfrm>
            <a:off x="8183880" y="804672"/>
            <a:ext cx="914400" cy="1920240"/>
          </a:xfrm>
          <a:prstGeom prst="roundRect">
            <a:avLst>
              <a:gd name="adj" fmla="val 10000"/>
            </a:avLst>
          </a:prstGeom>
          <a:solidFill>
            <a:srgbClr val="FEF2F2"/>
          </a:solidFill>
          <a:ln w="19050">
            <a:solidFill>
              <a:srgbClr val="FCA5A5"/>
            </a:solidFill>
            <a:prstDash val="solid"/>
          </a:ln>
        </p:spPr>
      </p:sp>
      <p:sp>
        <p:nvSpPr>
          <p:cNvPr id="16" name="Text 14"/>
          <p:cNvSpPr/>
          <p:nvPr/>
        </p:nvSpPr>
        <p:spPr>
          <a:xfrm>
            <a:off x="8183880" y="804672"/>
            <a:ext cx="914400" cy="1920240"/>
          </a:xfrm>
          <a:prstGeom prst="rect">
            <a:avLst/>
          </a:prstGeom>
          <a:noFill/>
          <a:ln/>
        </p:spPr>
        <p:txBody>
          <a:bodyPr wrap="square" rtlCol="0" anchor="ctr"/>
          <a:lstStyle/>
          <a:p>
            <a:pPr marL="0" indent="0" algn="ctr">
              <a:buNone/>
            </a:pPr>
            <a:r>
              <a:rPr lang="en-US" sz="1100" b="1" dirty="0">
                <a:solidFill>
                  <a:srgbClr val="991B1B"/>
                </a:solidFill>
              </a:rPr>
              <a:t>[ Server ]</a:t>
            </a:r>
            <a:endParaRPr lang="en-US" sz="1100" dirty="0"/>
          </a:p>
        </p:txBody>
      </p:sp>
      <p:sp>
        <p:nvSpPr>
          <p:cNvPr id="17" name="Shape 15"/>
          <p:cNvSpPr/>
          <p:nvPr/>
        </p:nvSpPr>
        <p:spPr>
          <a:xfrm>
            <a:off x="5669280" y="2834640"/>
            <a:ext cx="3291840" cy="475488"/>
          </a:xfrm>
          <a:prstGeom prst="roundRect">
            <a:avLst>
              <a:gd name="adj" fmla="val 15385"/>
            </a:avLst>
          </a:prstGeom>
          <a:solidFill>
            <a:srgbClr val="FEE2E2"/>
          </a:solidFill>
          <a:ln w="12700">
            <a:solidFill>
              <a:srgbClr val="E53E3E"/>
            </a:solidFill>
            <a:prstDash val="solid"/>
          </a:ln>
        </p:spPr>
      </p:sp>
      <p:sp>
        <p:nvSpPr>
          <p:cNvPr id="18" name="Text 16"/>
          <p:cNvSpPr/>
          <p:nvPr/>
        </p:nvSpPr>
        <p:spPr>
          <a:xfrm>
            <a:off x="5669280" y="2834640"/>
            <a:ext cx="3291840" cy="475488"/>
          </a:xfrm>
          <a:prstGeom prst="rect">
            <a:avLst/>
          </a:prstGeom>
          <a:noFill/>
          <a:ln/>
        </p:spPr>
        <p:txBody>
          <a:bodyPr wrap="square" rtlCol="0" anchor="ctr"/>
          <a:lstStyle/>
          <a:p>
            <a:pPr marL="0" indent="0" algn="ctr">
              <a:buNone/>
            </a:pPr>
            <a:r>
              <a:rPr lang="en-US" sz="1050" b="1" dirty="0">
                <a:solidFill>
                  <a:srgbClr val="991B1B"/>
                </a:solidFill>
              </a:rPr>
              <a:t>Server now knows everyone you know</a:t>
            </a:r>
            <a:endParaRPr lang="en-US" sz="1050" dirty="0"/>
          </a:p>
        </p:txBody>
      </p:sp>
      <p:sp>
        <p:nvSpPr>
          <p:cNvPr id="19" name="Shape 17"/>
          <p:cNvSpPr/>
          <p:nvPr/>
        </p:nvSpPr>
        <p:spPr>
          <a:xfrm>
            <a:off x="274320" y="4169664"/>
            <a:ext cx="8595360" cy="502920"/>
          </a:xfrm>
          <a:prstGeom prst="rect">
            <a:avLst/>
          </a:prstGeom>
          <a:solidFill>
            <a:srgbClr val="FEF3C7"/>
          </a:solidFill>
          <a:ln w="19050">
            <a:solidFill>
              <a:srgbClr val="EF9F27"/>
            </a:solidFill>
            <a:prstDash val="solid"/>
          </a:ln>
        </p:spPr>
      </p:sp>
      <p:sp>
        <p:nvSpPr>
          <p:cNvPr id="20" name="Text 18"/>
          <p:cNvSpPr/>
          <p:nvPr/>
        </p:nvSpPr>
        <p:spPr>
          <a:xfrm>
            <a:off x="411480" y="4169664"/>
            <a:ext cx="8321040" cy="502920"/>
          </a:xfrm>
          <a:prstGeom prst="rect">
            <a:avLst/>
          </a:prstGeom>
          <a:noFill/>
          <a:ln/>
        </p:spPr>
        <p:txBody>
          <a:bodyPr wrap="square" rtlCol="0" anchor="ctr"/>
          <a:lstStyle/>
          <a:p>
            <a:pPr marL="0" indent="0">
              <a:buNone/>
            </a:pPr>
            <a:r>
              <a:rPr lang="en-US" sz="1150" i="1" dirty="0">
                <a:solidFill>
                  <a:srgbClr val="92400E"/>
                </a:solidFill>
              </a:rPr>
              <a:t>Over 2 billion WhatsApp users affected by this model as of 2024 — Hagen et al. (2021) demonstrated live enumeration attacks against major platforms.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The core concept: private set intersection (PSI)</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3</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31520"/>
            <a:ext cx="2377440" cy="1920240"/>
          </a:xfrm>
          <a:prstGeom prst="rect">
            <a:avLst/>
          </a:prstGeom>
          <a:solidFill>
            <a:srgbClr val="E0F2FE"/>
          </a:solidFill>
          <a:ln w="19050">
            <a:solidFill>
              <a:srgbClr val="38BDF8"/>
            </a:solidFill>
            <a:prstDash val="solid"/>
          </a:ln>
        </p:spPr>
      </p:sp>
      <p:sp>
        <p:nvSpPr>
          <p:cNvPr id="7" name="Shape 5"/>
          <p:cNvSpPr/>
          <p:nvPr/>
        </p:nvSpPr>
        <p:spPr>
          <a:xfrm>
            <a:off x="274320" y="731520"/>
            <a:ext cx="2377440" cy="338328"/>
          </a:xfrm>
          <a:prstGeom prst="rect">
            <a:avLst/>
          </a:prstGeom>
          <a:solidFill>
            <a:srgbClr val="0369A1"/>
          </a:solidFill>
          <a:ln w="12700">
            <a:solidFill>
              <a:srgbClr val="0369A1"/>
            </a:solidFill>
            <a:prstDash val="solid"/>
          </a:ln>
        </p:spPr>
      </p:sp>
      <p:sp>
        <p:nvSpPr>
          <p:cNvPr id="8" name="Text 6"/>
          <p:cNvSpPr/>
          <p:nvPr/>
        </p:nvSpPr>
        <p:spPr>
          <a:xfrm>
            <a:off x="274320" y="731520"/>
            <a:ext cx="2377440" cy="338328"/>
          </a:xfrm>
          <a:prstGeom prst="rect">
            <a:avLst/>
          </a:prstGeom>
          <a:noFill/>
          <a:ln/>
        </p:spPr>
        <p:txBody>
          <a:bodyPr wrap="square" lIns="0" tIns="0" rIns="0" bIns="0" rtlCol="0" anchor="ctr"/>
          <a:lstStyle/>
          <a:p>
            <a:pPr marL="0" indent="0" algn="ctr">
              <a:buNone/>
            </a:pPr>
            <a:r>
              <a:rPr lang="en-US" sz="1100" b="1" dirty="0">
                <a:solidFill>
                  <a:srgbClr val="FFFFFF"/>
                </a:solidFill>
              </a:rPr>
              <a:t>Your contacts (C)</a:t>
            </a:r>
            <a:endParaRPr lang="en-US" sz="1100" dirty="0"/>
          </a:p>
        </p:txBody>
      </p:sp>
      <p:sp>
        <p:nvSpPr>
          <p:cNvPr id="9" name="Text 7"/>
          <p:cNvSpPr/>
          <p:nvPr/>
        </p:nvSpPr>
        <p:spPr>
          <a:xfrm>
            <a:off x="274320" y="1069848"/>
            <a:ext cx="2377440" cy="1581912"/>
          </a:xfrm>
          <a:prstGeom prst="rect">
            <a:avLst/>
          </a:prstGeom>
          <a:noFill/>
          <a:ln/>
        </p:spPr>
        <p:txBody>
          <a:bodyPr wrap="square" rtlCol="0" anchor="ctr"/>
          <a:lstStyle/>
          <a:p>
            <a:pPr marL="0" indent="0" algn="ctr">
              <a:buNone/>
            </a:pPr>
            <a:r>
              <a:rPr lang="en-US" sz="1350" dirty="0">
                <a:solidFill>
                  <a:srgbClr val="0C4A6E"/>
                </a:solidFill>
              </a:rPr>
              <a:t>Alice</a:t>
            </a:r>
            <a:endParaRPr lang="en-US" sz="1350" dirty="0"/>
          </a:p>
          <a:p>
            <a:pPr marL="0" indent="0" algn="ctr">
              <a:buNone/>
            </a:pPr>
            <a:r>
              <a:rPr lang="en-US" sz="1350" dirty="0">
                <a:solidFill>
                  <a:srgbClr val="0C4A6E"/>
                </a:solidFill>
              </a:rPr>
              <a:t>Bob</a:t>
            </a:r>
            <a:endParaRPr lang="en-US" sz="1350" dirty="0"/>
          </a:p>
          <a:p>
            <a:pPr marL="0" indent="0" algn="ctr">
              <a:buNone/>
            </a:pPr>
            <a:r>
              <a:rPr lang="en-US" sz="1350" dirty="0">
                <a:solidFill>
                  <a:srgbClr val="0C4A6E"/>
                </a:solidFill>
              </a:rPr>
              <a:t>Carol</a:t>
            </a:r>
            <a:endParaRPr lang="en-US" sz="1350" dirty="0"/>
          </a:p>
          <a:p>
            <a:pPr marL="0" indent="0" algn="ctr">
              <a:buNone/>
            </a:pPr>
            <a:r>
              <a:rPr lang="en-US" sz="1350" dirty="0">
                <a:solidFill>
                  <a:srgbClr val="0C4A6E"/>
                </a:solidFill>
              </a:rPr>
              <a:t>Dave</a:t>
            </a:r>
            <a:endParaRPr lang="en-US" sz="1350" dirty="0"/>
          </a:p>
        </p:txBody>
      </p:sp>
      <p:sp>
        <p:nvSpPr>
          <p:cNvPr id="10" name="Shape 8"/>
          <p:cNvSpPr/>
          <p:nvPr/>
        </p:nvSpPr>
        <p:spPr>
          <a:xfrm>
            <a:off x="3474720" y="777240"/>
            <a:ext cx="2194560" cy="1828800"/>
          </a:xfrm>
          <a:prstGeom prst="ellipse">
            <a:avLst/>
          </a:prstGeom>
          <a:solidFill>
            <a:srgbClr val="D1FAE5"/>
          </a:solidFill>
          <a:ln w="31750">
            <a:solidFill>
              <a:srgbClr val="1D9E75"/>
            </a:solidFill>
            <a:prstDash val="solid"/>
          </a:ln>
        </p:spPr>
      </p:sp>
      <p:sp>
        <p:nvSpPr>
          <p:cNvPr id="11" name="Text 9"/>
          <p:cNvSpPr/>
          <p:nvPr/>
        </p:nvSpPr>
        <p:spPr>
          <a:xfrm>
            <a:off x="3474720" y="777240"/>
            <a:ext cx="2194560" cy="1828800"/>
          </a:xfrm>
          <a:prstGeom prst="rect">
            <a:avLst/>
          </a:prstGeom>
          <a:noFill/>
          <a:ln/>
        </p:spPr>
        <p:txBody>
          <a:bodyPr wrap="square" rtlCol="0" anchor="ctr"/>
          <a:lstStyle/>
          <a:p>
            <a:pPr marL="0" indent="0" algn="ctr">
              <a:buNone/>
            </a:pPr>
            <a:r>
              <a:rPr lang="en-US" sz="1300" b="1" dirty="0">
                <a:solidFill>
                  <a:srgbClr val="065F46"/>
                </a:solidFill>
              </a:rPr>
              <a:t>C ∩ S =</a:t>
            </a:r>
            <a:endParaRPr lang="en-US" sz="1300" dirty="0"/>
          </a:p>
          <a:p>
            <a:pPr marL="0" indent="0" algn="ctr">
              <a:buNone/>
            </a:pPr>
            <a:r>
              <a:rPr lang="en-US" sz="1300" b="1" dirty="0">
                <a:solidFill>
                  <a:srgbClr val="065F46"/>
                </a:solidFill>
              </a:rPr>
              <a:t>{Bob, Carol}</a:t>
            </a:r>
            <a:endParaRPr lang="en-US" sz="1300" dirty="0"/>
          </a:p>
        </p:txBody>
      </p:sp>
      <p:sp>
        <p:nvSpPr>
          <p:cNvPr id="12" name="Shape 10"/>
          <p:cNvSpPr/>
          <p:nvPr/>
        </p:nvSpPr>
        <p:spPr>
          <a:xfrm>
            <a:off x="6492240" y="731520"/>
            <a:ext cx="2377440" cy="1920240"/>
          </a:xfrm>
          <a:prstGeom prst="rect">
            <a:avLst/>
          </a:prstGeom>
          <a:solidFill>
            <a:srgbClr val="0A1628"/>
          </a:solidFill>
          <a:ln w="19050">
            <a:solidFill>
              <a:srgbClr val="475569"/>
            </a:solidFill>
            <a:prstDash val="solid"/>
          </a:ln>
        </p:spPr>
      </p:sp>
      <p:sp>
        <p:nvSpPr>
          <p:cNvPr id="13" name="Shape 11"/>
          <p:cNvSpPr/>
          <p:nvPr/>
        </p:nvSpPr>
        <p:spPr>
          <a:xfrm>
            <a:off x="6492240" y="731520"/>
            <a:ext cx="2377440" cy="338328"/>
          </a:xfrm>
          <a:prstGeom prst="rect">
            <a:avLst/>
          </a:prstGeom>
          <a:solidFill>
            <a:srgbClr val="1E3A5F"/>
          </a:solidFill>
          <a:ln w="12700">
            <a:solidFill>
              <a:srgbClr val="1E3A5F"/>
            </a:solidFill>
            <a:prstDash val="solid"/>
          </a:ln>
        </p:spPr>
      </p:sp>
      <p:sp>
        <p:nvSpPr>
          <p:cNvPr id="14" name="Text 12"/>
          <p:cNvSpPr/>
          <p:nvPr/>
        </p:nvSpPr>
        <p:spPr>
          <a:xfrm>
            <a:off x="6492240" y="731520"/>
            <a:ext cx="2377440" cy="338328"/>
          </a:xfrm>
          <a:prstGeom prst="rect">
            <a:avLst/>
          </a:prstGeom>
          <a:noFill/>
          <a:ln/>
        </p:spPr>
        <p:txBody>
          <a:bodyPr wrap="square" lIns="0" tIns="0" rIns="0" bIns="0" rtlCol="0" anchor="ctr"/>
          <a:lstStyle/>
          <a:p>
            <a:pPr marL="0" indent="0" algn="ctr">
              <a:buNone/>
            </a:pPr>
            <a:r>
              <a:rPr lang="en-US" sz="1100" b="1" dirty="0">
                <a:solidFill>
                  <a:srgbClr val="9FE1CB"/>
                </a:solidFill>
              </a:rPr>
              <a:t>Registered users (S)</a:t>
            </a:r>
            <a:endParaRPr lang="en-US" sz="1100" dirty="0"/>
          </a:p>
        </p:txBody>
      </p:sp>
      <p:sp>
        <p:nvSpPr>
          <p:cNvPr id="15" name="Text 13"/>
          <p:cNvSpPr/>
          <p:nvPr/>
        </p:nvSpPr>
        <p:spPr>
          <a:xfrm>
            <a:off x="6492240" y="1069848"/>
            <a:ext cx="2377440" cy="1581912"/>
          </a:xfrm>
          <a:prstGeom prst="rect">
            <a:avLst/>
          </a:prstGeom>
          <a:noFill/>
          <a:ln/>
        </p:spPr>
        <p:txBody>
          <a:bodyPr wrap="square" rtlCol="0" anchor="ctr"/>
          <a:lstStyle/>
          <a:p>
            <a:pPr marL="0" indent="0" algn="ctr">
              <a:buNone/>
            </a:pPr>
            <a:r>
              <a:rPr lang="en-US" sz="1300" dirty="0">
                <a:solidFill>
                  <a:srgbClr val="FFFFFF"/>
                </a:solidFill>
              </a:rPr>
              <a:t>Bob</a:t>
            </a:r>
            <a:endParaRPr lang="en-US" sz="1300" dirty="0"/>
          </a:p>
          <a:p>
            <a:pPr marL="0" indent="0" algn="ctr">
              <a:buNone/>
            </a:pPr>
            <a:r>
              <a:rPr lang="en-US" sz="1300" dirty="0">
                <a:solidFill>
                  <a:srgbClr val="FFFFFF"/>
                </a:solidFill>
              </a:rPr>
              <a:t>Eve</a:t>
            </a:r>
            <a:endParaRPr lang="en-US" sz="1300" dirty="0"/>
          </a:p>
          <a:p>
            <a:pPr marL="0" indent="0" algn="ctr">
              <a:buNone/>
            </a:pPr>
            <a:r>
              <a:rPr lang="en-US" sz="1300" dirty="0">
                <a:solidFill>
                  <a:srgbClr val="FFFFFF"/>
                </a:solidFill>
              </a:rPr>
              <a:t>Carol</a:t>
            </a:r>
            <a:endParaRPr lang="en-US" sz="1300" dirty="0"/>
          </a:p>
          <a:p>
            <a:pPr marL="0" indent="0" algn="ctr">
              <a:buNone/>
            </a:pPr>
            <a:r>
              <a:rPr lang="en-US" sz="1300" dirty="0">
                <a:solidFill>
                  <a:srgbClr val="FFFFFF"/>
                </a:solidFill>
              </a:rPr>
              <a:t>Frank</a:t>
            </a:r>
            <a:endParaRPr lang="en-US" sz="1300" dirty="0"/>
          </a:p>
          <a:p>
            <a:pPr marL="0" indent="0" algn="ctr">
              <a:buNone/>
            </a:pPr>
            <a:r>
              <a:rPr lang="en-US" sz="1300" dirty="0">
                <a:solidFill>
                  <a:srgbClr val="FFFFFF"/>
                </a:solidFill>
              </a:rPr>
              <a:t>...</a:t>
            </a:r>
            <a:endParaRPr lang="en-US" sz="1300" dirty="0"/>
          </a:p>
        </p:txBody>
      </p:sp>
      <p:sp>
        <p:nvSpPr>
          <p:cNvPr id="16" name="Text 14"/>
          <p:cNvSpPr/>
          <p:nvPr/>
        </p:nvSpPr>
        <p:spPr>
          <a:xfrm>
            <a:off x="914400" y="2834640"/>
            <a:ext cx="7315200" cy="329184"/>
          </a:xfrm>
          <a:prstGeom prst="rect">
            <a:avLst/>
          </a:prstGeom>
          <a:noFill/>
          <a:ln/>
        </p:spPr>
        <p:txBody>
          <a:bodyPr wrap="square" rtlCol="0" anchor="ctr"/>
          <a:lstStyle/>
          <a:p>
            <a:pPr marL="0" indent="0" algn="ctr">
              <a:buNone/>
            </a:pPr>
            <a:r>
              <a:rPr lang="en-US" sz="1200" i="1" dirty="0">
                <a:solidFill>
                  <a:srgbClr val="334155"/>
                </a:solidFill>
              </a:rPr>
              <a:t>Goal: compute the overlap without revealing anything else</a:t>
            </a:r>
            <a:endParaRPr lang="en-US" sz="1200" dirty="0"/>
          </a:p>
        </p:txBody>
      </p:sp>
      <p:sp>
        <p:nvSpPr>
          <p:cNvPr id="17" name="Shape 15"/>
          <p:cNvSpPr/>
          <p:nvPr/>
        </p:nvSpPr>
        <p:spPr>
          <a:xfrm>
            <a:off x="274320" y="3264408"/>
            <a:ext cx="4206240" cy="1325880"/>
          </a:xfrm>
          <a:prstGeom prst="rect">
            <a:avLst/>
          </a:prstGeom>
          <a:solidFill>
            <a:srgbClr val="F0FDF4"/>
          </a:solidFill>
          <a:ln w="25400">
            <a:solidFill>
              <a:srgbClr val="1D9E75"/>
            </a:solidFill>
            <a:prstDash val="solid"/>
          </a:ln>
        </p:spPr>
      </p:sp>
      <p:sp>
        <p:nvSpPr>
          <p:cNvPr id="18" name="Shape 16"/>
          <p:cNvSpPr/>
          <p:nvPr/>
        </p:nvSpPr>
        <p:spPr>
          <a:xfrm>
            <a:off x="274320" y="3264408"/>
            <a:ext cx="4206240" cy="347472"/>
          </a:xfrm>
          <a:prstGeom prst="rect">
            <a:avLst/>
          </a:prstGeom>
          <a:solidFill>
            <a:srgbClr val="1D9E75"/>
          </a:solidFill>
          <a:ln w="12700">
            <a:solidFill>
              <a:srgbClr val="1D9E75"/>
            </a:solidFill>
            <a:prstDash val="solid"/>
          </a:ln>
        </p:spPr>
      </p:sp>
      <p:sp>
        <p:nvSpPr>
          <p:cNvPr id="19" name="Text 17"/>
          <p:cNvSpPr/>
          <p:nvPr/>
        </p:nvSpPr>
        <p:spPr>
          <a:xfrm>
            <a:off x="402336" y="3264408"/>
            <a:ext cx="3950208" cy="347472"/>
          </a:xfrm>
          <a:prstGeom prst="rect">
            <a:avLst/>
          </a:prstGeom>
          <a:noFill/>
          <a:ln/>
        </p:spPr>
        <p:txBody>
          <a:bodyPr wrap="square" lIns="0" tIns="0" rIns="0" bIns="0" rtlCol="0" anchor="ctr"/>
          <a:lstStyle/>
          <a:p>
            <a:pPr marL="0" indent="0">
              <a:buNone/>
            </a:pPr>
            <a:r>
              <a:rPr lang="en-US" sz="1100" b="1" dirty="0">
                <a:solidFill>
                  <a:srgbClr val="FFFFFF"/>
                </a:solidFill>
              </a:rPr>
              <a:t>Server learns only matched elements</a:t>
            </a:r>
            <a:endParaRPr lang="en-US" sz="1100" dirty="0"/>
          </a:p>
        </p:txBody>
      </p:sp>
      <p:sp>
        <p:nvSpPr>
          <p:cNvPr id="20" name="Text 18"/>
          <p:cNvSpPr/>
          <p:nvPr/>
        </p:nvSpPr>
        <p:spPr>
          <a:xfrm>
            <a:off x="402336" y="3611880"/>
            <a:ext cx="3950208" cy="868680"/>
          </a:xfrm>
          <a:prstGeom prst="rect">
            <a:avLst/>
          </a:prstGeom>
          <a:noFill/>
          <a:ln/>
        </p:spPr>
        <p:txBody>
          <a:bodyPr wrap="square" rtlCol="0" anchor="ctr"/>
          <a:lstStyle/>
          <a:p>
            <a:pPr marL="0" indent="0">
              <a:buNone/>
            </a:pPr>
            <a:r>
              <a:rPr lang="en-US" sz="1200" dirty="0">
                <a:solidFill>
                  <a:srgbClr val="14532D"/>
                </a:solidFill>
              </a:rPr>
              <a:t>Nothing is revealed about your non-registered contacts.</a:t>
            </a:r>
            <a:endParaRPr lang="en-US" sz="1200" dirty="0"/>
          </a:p>
        </p:txBody>
      </p:sp>
      <p:sp>
        <p:nvSpPr>
          <p:cNvPr id="21" name="Shape 19"/>
          <p:cNvSpPr/>
          <p:nvPr/>
        </p:nvSpPr>
        <p:spPr>
          <a:xfrm>
            <a:off x="4663440" y="3264408"/>
            <a:ext cx="4206240" cy="1325880"/>
          </a:xfrm>
          <a:prstGeom prst="rect">
            <a:avLst/>
          </a:prstGeom>
          <a:solidFill>
            <a:srgbClr val="F0FDF4"/>
          </a:solidFill>
          <a:ln w="25400">
            <a:solidFill>
              <a:srgbClr val="1D9E75"/>
            </a:solidFill>
            <a:prstDash val="solid"/>
          </a:ln>
        </p:spPr>
      </p:sp>
      <p:sp>
        <p:nvSpPr>
          <p:cNvPr id="22" name="Shape 20"/>
          <p:cNvSpPr/>
          <p:nvPr/>
        </p:nvSpPr>
        <p:spPr>
          <a:xfrm>
            <a:off x="4663440" y="3264408"/>
            <a:ext cx="4206240" cy="347472"/>
          </a:xfrm>
          <a:prstGeom prst="rect">
            <a:avLst/>
          </a:prstGeom>
          <a:solidFill>
            <a:srgbClr val="1D9E75"/>
          </a:solidFill>
          <a:ln w="12700">
            <a:solidFill>
              <a:srgbClr val="1D9E75"/>
            </a:solidFill>
            <a:prstDash val="solid"/>
          </a:ln>
        </p:spPr>
      </p:sp>
      <p:sp>
        <p:nvSpPr>
          <p:cNvPr id="23" name="Text 21"/>
          <p:cNvSpPr/>
          <p:nvPr/>
        </p:nvSpPr>
        <p:spPr>
          <a:xfrm>
            <a:off x="4791456" y="3264408"/>
            <a:ext cx="3950208" cy="347472"/>
          </a:xfrm>
          <a:prstGeom prst="rect">
            <a:avLst/>
          </a:prstGeom>
          <a:noFill/>
          <a:ln/>
        </p:spPr>
        <p:txBody>
          <a:bodyPr wrap="square" lIns="0" tIns="0" rIns="0" bIns="0" rtlCol="0" anchor="ctr"/>
          <a:lstStyle/>
          <a:p>
            <a:pPr marL="0" indent="0">
              <a:buNone/>
            </a:pPr>
            <a:r>
              <a:rPr lang="en-US" sz="1100" b="1" dirty="0">
                <a:solidFill>
                  <a:srgbClr val="FFFFFF"/>
                </a:solidFill>
              </a:rPr>
              <a:t>Client learns only matched elements</a:t>
            </a:r>
            <a:endParaRPr lang="en-US" sz="1100" dirty="0"/>
          </a:p>
        </p:txBody>
      </p:sp>
      <p:sp>
        <p:nvSpPr>
          <p:cNvPr id="24" name="Text 22"/>
          <p:cNvSpPr/>
          <p:nvPr/>
        </p:nvSpPr>
        <p:spPr>
          <a:xfrm>
            <a:off x="4791456" y="3611880"/>
            <a:ext cx="3950208" cy="868680"/>
          </a:xfrm>
          <a:prstGeom prst="rect">
            <a:avLst/>
          </a:prstGeom>
          <a:noFill/>
          <a:ln/>
        </p:spPr>
        <p:txBody>
          <a:bodyPr wrap="square" rtlCol="0" anchor="ctr"/>
          <a:lstStyle/>
          <a:p>
            <a:pPr marL="0" indent="0">
              <a:buNone/>
            </a:pPr>
            <a:r>
              <a:rPr lang="en-US" sz="1200" dirty="0">
                <a:solidFill>
                  <a:srgbClr val="14532D"/>
                </a:solidFill>
              </a:rPr>
              <a:t>Nothing is revealed about the server's full user list.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System architecture and threat model</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4</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49808"/>
            <a:ext cx="2377440" cy="1234440"/>
          </a:xfrm>
          <a:prstGeom prst="rect">
            <a:avLst/>
          </a:prstGeom>
          <a:solidFill>
            <a:srgbClr val="E0F2FE"/>
          </a:solidFill>
          <a:ln w="19050">
            <a:solidFill>
              <a:srgbClr val="1D9E75"/>
            </a:solidFill>
            <a:prstDash val="solid"/>
          </a:ln>
        </p:spPr>
      </p:sp>
      <p:sp>
        <p:nvSpPr>
          <p:cNvPr id="7" name="Shape 5"/>
          <p:cNvSpPr/>
          <p:nvPr/>
        </p:nvSpPr>
        <p:spPr>
          <a:xfrm>
            <a:off x="274320" y="749808"/>
            <a:ext cx="2377440" cy="347472"/>
          </a:xfrm>
          <a:prstGeom prst="rect">
            <a:avLst/>
          </a:prstGeom>
          <a:solidFill>
            <a:srgbClr val="1D9E75"/>
          </a:solidFill>
          <a:ln w="12700">
            <a:solidFill>
              <a:srgbClr val="1D9E75"/>
            </a:solidFill>
            <a:prstDash val="solid"/>
          </a:ln>
        </p:spPr>
      </p:sp>
      <p:sp>
        <p:nvSpPr>
          <p:cNvPr id="8" name="Text 6"/>
          <p:cNvSpPr/>
          <p:nvPr/>
        </p:nvSpPr>
        <p:spPr>
          <a:xfrm>
            <a:off x="320040" y="749808"/>
            <a:ext cx="2286000" cy="347472"/>
          </a:xfrm>
          <a:prstGeom prst="rect">
            <a:avLst/>
          </a:prstGeom>
          <a:noFill/>
          <a:ln/>
        </p:spPr>
        <p:txBody>
          <a:bodyPr wrap="square" lIns="0" tIns="0" rIns="0" bIns="0" rtlCol="0" anchor="ctr"/>
          <a:lstStyle/>
          <a:p>
            <a:pPr marL="0" indent="0" algn="ctr">
              <a:buNone/>
            </a:pPr>
            <a:r>
              <a:rPr lang="en-US" sz="1150" b="1" dirty="0">
                <a:solidFill>
                  <a:srgbClr val="FFFFFF"/>
                </a:solidFill>
              </a:rPr>
              <a:t>Client device</a:t>
            </a:r>
            <a:endParaRPr lang="en-US" sz="1150" dirty="0"/>
          </a:p>
        </p:txBody>
      </p:sp>
      <p:sp>
        <p:nvSpPr>
          <p:cNvPr id="9" name="Text 7"/>
          <p:cNvSpPr/>
          <p:nvPr/>
        </p:nvSpPr>
        <p:spPr>
          <a:xfrm>
            <a:off x="365760" y="1097280"/>
            <a:ext cx="2194560" cy="886968"/>
          </a:xfrm>
          <a:prstGeom prst="rect">
            <a:avLst/>
          </a:prstGeom>
          <a:noFill/>
          <a:ln/>
        </p:spPr>
        <p:txBody>
          <a:bodyPr wrap="square" rtlCol="0" anchor="ctr"/>
          <a:lstStyle/>
          <a:p>
            <a:pPr marL="0" indent="0" algn="ctr">
              <a:buNone/>
            </a:pPr>
            <a:r>
              <a:rPr lang="en-US" sz="1050" dirty="0">
                <a:solidFill>
                  <a:srgbClr val="0369A1"/>
                </a:solidFill>
              </a:rPr>
              <a:t>Holds: C = {c₁…cₙ}</a:t>
            </a:r>
            <a:endParaRPr lang="en-US" sz="1050" dirty="0"/>
          </a:p>
          <a:p>
            <a:pPr marL="0" indent="0" algn="ctr">
              <a:buNone/>
            </a:pPr>
            <a:r>
              <a:rPr lang="en-US" sz="1050" dirty="0">
                <a:solidFill>
                  <a:srgbClr val="0369A1"/>
                </a:solidFill>
              </a:rPr>
              <a:t>(user address book)</a:t>
            </a:r>
            <a:endParaRPr lang="en-US" sz="1050" dirty="0"/>
          </a:p>
        </p:txBody>
      </p:sp>
      <p:sp>
        <p:nvSpPr>
          <p:cNvPr id="10" name="Shape 8"/>
          <p:cNvSpPr/>
          <p:nvPr/>
        </p:nvSpPr>
        <p:spPr>
          <a:xfrm>
            <a:off x="3383280" y="749808"/>
            <a:ext cx="2377440" cy="1234440"/>
          </a:xfrm>
          <a:prstGeom prst="rect">
            <a:avLst/>
          </a:prstGeom>
          <a:solidFill>
            <a:srgbClr val="F8FAFC"/>
          </a:solidFill>
          <a:ln w="19050">
            <a:solidFill>
              <a:srgbClr val="94A3B8"/>
            </a:solidFill>
            <a:prstDash val="solid"/>
          </a:ln>
        </p:spPr>
      </p:sp>
      <p:sp>
        <p:nvSpPr>
          <p:cNvPr id="11" name="Shape 9"/>
          <p:cNvSpPr/>
          <p:nvPr/>
        </p:nvSpPr>
        <p:spPr>
          <a:xfrm>
            <a:off x="3383280" y="749808"/>
            <a:ext cx="2377440" cy="347472"/>
          </a:xfrm>
          <a:prstGeom prst="rect">
            <a:avLst/>
          </a:prstGeom>
          <a:solidFill>
            <a:srgbClr val="64748B"/>
          </a:solidFill>
          <a:ln w="12700">
            <a:solidFill>
              <a:srgbClr val="64748B"/>
            </a:solidFill>
            <a:prstDash val="solid"/>
          </a:ln>
        </p:spPr>
      </p:sp>
      <p:sp>
        <p:nvSpPr>
          <p:cNvPr id="12" name="Text 10"/>
          <p:cNvSpPr/>
          <p:nvPr/>
        </p:nvSpPr>
        <p:spPr>
          <a:xfrm>
            <a:off x="3429000" y="749808"/>
            <a:ext cx="2286000" cy="347472"/>
          </a:xfrm>
          <a:prstGeom prst="rect">
            <a:avLst/>
          </a:prstGeom>
          <a:noFill/>
          <a:ln/>
        </p:spPr>
        <p:txBody>
          <a:bodyPr wrap="square" lIns="0" tIns="0" rIns="0" bIns="0" rtlCol="0" anchor="ctr"/>
          <a:lstStyle/>
          <a:p>
            <a:pPr marL="0" indent="0" algn="ctr">
              <a:buNone/>
            </a:pPr>
            <a:r>
              <a:rPr lang="en-US" sz="1150" b="1" dirty="0">
                <a:solidFill>
                  <a:srgbClr val="FFFFFF"/>
                </a:solidFill>
              </a:rPr>
              <a:t>PSI protocol exchange</a:t>
            </a:r>
            <a:endParaRPr lang="en-US" sz="1150" dirty="0"/>
          </a:p>
        </p:txBody>
      </p:sp>
      <p:sp>
        <p:nvSpPr>
          <p:cNvPr id="13" name="Text 11"/>
          <p:cNvSpPr/>
          <p:nvPr/>
        </p:nvSpPr>
        <p:spPr>
          <a:xfrm>
            <a:off x="3474720" y="1097280"/>
            <a:ext cx="2194560" cy="886968"/>
          </a:xfrm>
          <a:prstGeom prst="rect">
            <a:avLst/>
          </a:prstGeom>
          <a:noFill/>
          <a:ln/>
        </p:spPr>
        <p:txBody>
          <a:bodyPr wrap="square" rtlCol="0" anchor="ctr"/>
          <a:lstStyle/>
          <a:p>
            <a:pPr marL="0" indent="0" algn="ctr">
              <a:buNone/>
            </a:pPr>
            <a:r>
              <a:rPr lang="en-US" sz="1050" dirty="0">
                <a:solidFill>
                  <a:srgbClr val="334155"/>
                </a:solidFill>
              </a:rPr>
              <a:t>HTTPS / TLS 1.3</a:t>
            </a:r>
            <a:endParaRPr lang="en-US" sz="1050" dirty="0"/>
          </a:p>
          <a:p>
            <a:pPr marL="0" indent="0" algn="ctr">
              <a:buNone/>
            </a:pPr>
            <a:r>
              <a:rPr lang="en-US" sz="1050" dirty="0">
                <a:solidFill>
                  <a:srgbClr val="334155"/>
                </a:solidFill>
              </a:rPr>
              <a:t>Four-phase ECDH-PSI</a:t>
            </a:r>
            <a:endParaRPr lang="en-US" sz="1050" dirty="0"/>
          </a:p>
        </p:txBody>
      </p:sp>
      <p:sp>
        <p:nvSpPr>
          <p:cNvPr id="14" name="Shape 12"/>
          <p:cNvSpPr/>
          <p:nvPr/>
        </p:nvSpPr>
        <p:spPr>
          <a:xfrm>
            <a:off x="6492240" y="749808"/>
            <a:ext cx="2377440" cy="1234440"/>
          </a:xfrm>
          <a:prstGeom prst="rect">
            <a:avLst/>
          </a:prstGeom>
          <a:solidFill>
            <a:srgbClr val="EFF6FF"/>
          </a:solidFill>
          <a:ln w="19050">
            <a:solidFill>
              <a:srgbClr val="0A1628"/>
            </a:solidFill>
            <a:prstDash val="solid"/>
          </a:ln>
        </p:spPr>
      </p:sp>
      <p:sp>
        <p:nvSpPr>
          <p:cNvPr id="15" name="Shape 13"/>
          <p:cNvSpPr/>
          <p:nvPr/>
        </p:nvSpPr>
        <p:spPr>
          <a:xfrm>
            <a:off x="6492240" y="749808"/>
            <a:ext cx="2377440" cy="347472"/>
          </a:xfrm>
          <a:prstGeom prst="rect">
            <a:avLst/>
          </a:prstGeom>
          <a:solidFill>
            <a:srgbClr val="0A1628"/>
          </a:solidFill>
          <a:ln w="12700">
            <a:solidFill>
              <a:srgbClr val="0A1628"/>
            </a:solidFill>
            <a:prstDash val="solid"/>
          </a:ln>
        </p:spPr>
      </p:sp>
      <p:sp>
        <p:nvSpPr>
          <p:cNvPr id="16" name="Text 14"/>
          <p:cNvSpPr/>
          <p:nvPr/>
        </p:nvSpPr>
        <p:spPr>
          <a:xfrm>
            <a:off x="6537960" y="749808"/>
            <a:ext cx="2286000" cy="347472"/>
          </a:xfrm>
          <a:prstGeom prst="rect">
            <a:avLst/>
          </a:prstGeom>
          <a:noFill/>
          <a:ln/>
        </p:spPr>
        <p:txBody>
          <a:bodyPr wrap="square" lIns="0" tIns="0" rIns="0" bIns="0" rtlCol="0" anchor="ctr"/>
          <a:lstStyle/>
          <a:p>
            <a:pPr marL="0" indent="0" algn="ctr">
              <a:buNone/>
            </a:pPr>
            <a:r>
              <a:rPr lang="en-US" sz="1150" b="1" dirty="0">
                <a:solidFill>
                  <a:srgbClr val="FFFFFF"/>
                </a:solidFill>
              </a:rPr>
              <a:t>Server backend</a:t>
            </a:r>
            <a:endParaRPr lang="en-US" sz="1150" dirty="0"/>
          </a:p>
        </p:txBody>
      </p:sp>
      <p:sp>
        <p:nvSpPr>
          <p:cNvPr id="17" name="Text 15"/>
          <p:cNvSpPr/>
          <p:nvPr/>
        </p:nvSpPr>
        <p:spPr>
          <a:xfrm>
            <a:off x="6583680" y="1097280"/>
            <a:ext cx="2194560" cy="886968"/>
          </a:xfrm>
          <a:prstGeom prst="rect">
            <a:avLst/>
          </a:prstGeom>
          <a:noFill/>
          <a:ln/>
        </p:spPr>
        <p:txBody>
          <a:bodyPr wrap="square" rtlCol="0" anchor="ctr"/>
          <a:lstStyle/>
          <a:p>
            <a:pPr marL="0" indent="0" algn="ctr">
              <a:buNone/>
            </a:pPr>
            <a:r>
              <a:rPr lang="en-US" sz="1050" dirty="0">
                <a:solidFill>
                  <a:srgbClr val="1E3A5F"/>
                </a:solidFill>
              </a:rPr>
              <a:t>Holds: S = {s₁…sₘ}</a:t>
            </a:r>
            <a:endParaRPr lang="en-US" sz="1050" dirty="0"/>
          </a:p>
          <a:p>
            <a:pPr marL="0" indent="0" algn="ctr">
              <a:buNone/>
            </a:pPr>
            <a:r>
              <a:rPr lang="en-US" sz="1050" dirty="0">
                <a:solidFill>
                  <a:srgbClr val="1E3A5F"/>
                </a:solidFill>
              </a:rPr>
              <a:t>(registered users, m &gt;&gt; n)</a:t>
            </a:r>
            <a:endParaRPr lang="en-US" sz="1050" dirty="0"/>
          </a:p>
        </p:txBody>
      </p:sp>
      <p:sp>
        <p:nvSpPr>
          <p:cNvPr id="18" name="Shape 16"/>
          <p:cNvSpPr/>
          <p:nvPr/>
        </p:nvSpPr>
        <p:spPr>
          <a:xfrm>
            <a:off x="2651760" y="1362456"/>
            <a:ext cx="731520" cy="0"/>
          </a:xfrm>
          <a:prstGeom prst="line">
            <a:avLst/>
          </a:prstGeom>
          <a:noFill/>
          <a:ln w="25400">
            <a:solidFill>
              <a:srgbClr val="1D9E75"/>
            </a:solidFill>
            <a:prstDash val="solid"/>
          </a:ln>
        </p:spPr>
      </p:sp>
      <p:sp>
        <p:nvSpPr>
          <p:cNvPr id="19" name="Text 17"/>
          <p:cNvSpPr/>
          <p:nvPr/>
        </p:nvSpPr>
        <p:spPr>
          <a:xfrm>
            <a:off x="3200400" y="1188720"/>
            <a:ext cx="228600" cy="320040"/>
          </a:xfrm>
          <a:prstGeom prst="rect">
            <a:avLst/>
          </a:prstGeom>
          <a:noFill/>
          <a:ln/>
        </p:spPr>
        <p:txBody>
          <a:bodyPr wrap="square" rtlCol="0" anchor="ctr"/>
          <a:lstStyle/>
          <a:p>
            <a:pPr marL="0" indent="0" algn="ctr">
              <a:buNone/>
            </a:pPr>
            <a:r>
              <a:rPr lang="en-US" sz="1500" dirty="0">
                <a:solidFill>
                  <a:srgbClr val="1D9E75"/>
                </a:solidFill>
              </a:rPr>
              <a:t>→</a:t>
            </a:r>
            <a:endParaRPr lang="en-US" sz="1500" dirty="0"/>
          </a:p>
        </p:txBody>
      </p:sp>
      <p:sp>
        <p:nvSpPr>
          <p:cNvPr id="20" name="Shape 18"/>
          <p:cNvSpPr/>
          <p:nvPr/>
        </p:nvSpPr>
        <p:spPr>
          <a:xfrm>
            <a:off x="5760720" y="1362456"/>
            <a:ext cx="731520" cy="0"/>
          </a:xfrm>
          <a:prstGeom prst="line">
            <a:avLst/>
          </a:prstGeom>
          <a:noFill/>
          <a:ln w="25400">
            <a:solidFill>
              <a:srgbClr val="0A1628"/>
            </a:solidFill>
            <a:prstDash val="solid"/>
          </a:ln>
        </p:spPr>
      </p:sp>
      <p:sp>
        <p:nvSpPr>
          <p:cNvPr id="21" name="Text 19"/>
          <p:cNvSpPr/>
          <p:nvPr/>
        </p:nvSpPr>
        <p:spPr>
          <a:xfrm>
            <a:off x="6309360" y="1188720"/>
            <a:ext cx="228600" cy="320040"/>
          </a:xfrm>
          <a:prstGeom prst="rect">
            <a:avLst/>
          </a:prstGeom>
          <a:noFill/>
          <a:ln/>
        </p:spPr>
        <p:txBody>
          <a:bodyPr wrap="square" rtlCol="0" anchor="ctr"/>
          <a:lstStyle/>
          <a:p>
            <a:pPr marL="0" indent="0" algn="ctr">
              <a:buNone/>
            </a:pPr>
            <a:r>
              <a:rPr lang="en-US" sz="1500" dirty="0">
                <a:solidFill>
                  <a:srgbClr val="0A1628"/>
                </a:solidFill>
              </a:rPr>
              <a:t>→</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2148840"/>
          <a:ext cx="8595360" cy="2084832"/>
        </p:xfrm>
        <a:graphic>
          <a:graphicData uri="http://schemas.openxmlformats.org/drawingml/2006/table">
            <a:tbl>
              <a:tblPr/>
              <a:tblGrid>
                <a:gridCol w="25603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416966">
                <a:tc>
                  <a:txBody>
                    <a:bodyPr/>
                    <a:lstStyle/>
                    <a:p>
                      <a:pPr marL="0" indent="0">
                        <a:buNone/>
                      </a:pPr>
                      <a:r>
                        <a:rPr lang="en-US" sz="1100" b="1" dirty="0">
                          <a:solidFill>
                            <a:srgbClr val="FFFFFF"/>
                          </a:solidFill>
                        </a:rPr>
                        <a:t>Security guarantee</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100" b="1" dirty="0">
                          <a:solidFill>
                            <a:srgbClr val="FFFFFF"/>
                          </a:solidFill>
                        </a:rPr>
                        <a:t>What it means</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416966">
                <a:tc>
                  <a:txBody>
                    <a:bodyPr/>
                    <a:lstStyle/>
                    <a:p>
                      <a:pPr marL="0" indent="0">
                        <a:buNone/>
                      </a:pPr>
                      <a:r>
                        <a:rPr lang="en-US" sz="1050" b="1" dirty="0">
                          <a:solidFill>
                            <a:srgbClr val="0A1628"/>
                          </a:solidFill>
                        </a:rPr>
                        <a:t>Server privacy</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Server learns only |C∩S| and matched elements; nothing about C\S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16966">
                <a:tc>
                  <a:txBody>
                    <a:bodyPr/>
                    <a:lstStyle/>
                    <a:p>
                      <a:pPr marL="0" indent="0">
                        <a:buNone/>
                      </a:pPr>
                      <a:r>
                        <a:rPr lang="en-US" sz="1050" b="1" dirty="0">
                          <a:solidFill>
                            <a:srgbClr val="0A1628"/>
                          </a:solidFill>
                        </a:rPr>
                        <a:t>Client privacy</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Client learns only C∩S; nothing about S\C</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16966">
                <a:tc>
                  <a:txBody>
                    <a:bodyPr/>
                    <a:lstStyle/>
                    <a:p>
                      <a:pPr marL="0" indent="0">
                        <a:buNone/>
                      </a:pPr>
                      <a:r>
                        <a:rPr lang="en-US" sz="1050" b="1" dirty="0">
                          <a:solidFill>
                            <a:srgbClr val="0A1628"/>
                          </a:solidFill>
                        </a:rPr>
                        <a:t>No auxiliary leakage</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Neither party infers the other's set size beyond what the output reveals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416966">
                <a:tc>
                  <a:txBody>
                    <a:bodyPr/>
                    <a:lstStyle/>
                    <a:p>
                      <a:pPr marL="0" indent="0">
                        <a:buNone/>
                      </a:pPr>
                      <a:r>
                        <a:rPr lang="en-US" sz="1050" b="1" dirty="0">
                          <a:solidFill>
                            <a:srgbClr val="0A1628"/>
                          </a:solidFill>
                        </a:rPr>
                        <a:t>Channel security</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TLS 1.3 ensures integrity, confidentiality, and authenticity of all transmissions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3" name="Shape 20"/>
          <p:cNvSpPr/>
          <p:nvPr/>
        </p:nvSpPr>
        <p:spPr>
          <a:xfrm>
            <a:off x="5577840" y="4334256"/>
            <a:ext cx="3291840" cy="347472"/>
          </a:xfrm>
          <a:prstGeom prst="roundRect">
            <a:avLst>
              <a:gd name="adj" fmla="val 21053"/>
            </a:avLst>
          </a:prstGeom>
          <a:solidFill>
            <a:srgbClr val="FEF3C7"/>
          </a:solidFill>
          <a:ln w="12700">
            <a:solidFill>
              <a:srgbClr val="EF9F27"/>
            </a:solidFill>
            <a:prstDash val="solid"/>
          </a:ln>
        </p:spPr>
      </p:sp>
      <p:sp>
        <p:nvSpPr>
          <p:cNvPr id="24" name="Text 21"/>
          <p:cNvSpPr/>
          <p:nvPr/>
        </p:nvSpPr>
        <p:spPr>
          <a:xfrm>
            <a:off x="5577840" y="4334256"/>
            <a:ext cx="3291840" cy="347472"/>
          </a:xfrm>
          <a:prstGeom prst="rect">
            <a:avLst/>
          </a:prstGeom>
          <a:noFill/>
          <a:ln/>
        </p:spPr>
        <p:txBody>
          <a:bodyPr wrap="square" rtlCol="0" anchor="ctr"/>
          <a:lstStyle/>
          <a:p>
            <a:pPr marL="0" indent="0" algn="ctr">
              <a:buNone/>
            </a:pPr>
            <a:r>
              <a:rPr lang="en-US" sz="1000" b="1" dirty="0">
                <a:solidFill>
                  <a:srgbClr val="92400E"/>
                </a:solidFill>
              </a:rPr>
              <a:t>Adversarial model: semi-honest (honest-but-curious)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Protocol phases 1 &amp; 2 — hashing and client-side blinding</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5</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13232"/>
            <a:ext cx="4160520" cy="3337560"/>
          </a:xfrm>
          <a:prstGeom prst="rect">
            <a:avLst/>
          </a:prstGeom>
          <a:solidFill>
            <a:srgbClr val="F8FAFC"/>
          </a:solidFill>
          <a:ln w="12700">
            <a:solidFill>
              <a:srgbClr val="CBD5E1"/>
            </a:solidFill>
            <a:prstDash val="solid"/>
          </a:ln>
        </p:spPr>
      </p:sp>
      <p:sp>
        <p:nvSpPr>
          <p:cNvPr id="7" name="Shape 5"/>
          <p:cNvSpPr/>
          <p:nvPr/>
        </p:nvSpPr>
        <p:spPr>
          <a:xfrm>
            <a:off x="274320" y="713232"/>
            <a:ext cx="4160520" cy="347472"/>
          </a:xfrm>
          <a:prstGeom prst="rect">
            <a:avLst/>
          </a:prstGeom>
          <a:solidFill>
            <a:srgbClr val="0369A1"/>
          </a:solidFill>
          <a:ln w="12700">
            <a:solidFill>
              <a:srgbClr val="0369A1"/>
            </a:solidFill>
            <a:prstDash val="solid"/>
          </a:ln>
        </p:spPr>
      </p:sp>
      <p:sp>
        <p:nvSpPr>
          <p:cNvPr id="8" name="Text 6"/>
          <p:cNvSpPr/>
          <p:nvPr/>
        </p:nvSpPr>
        <p:spPr>
          <a:xfrm>
            <a:off x="320040" y="713232"/>
            <a:ext cx="4069080" cy="347472"/>
          </a:xfrm>
          <a:prstGeom prst="rect">
            <a:avLst/>
          </a:prstGeom>
          <a:noFill/>
          <a:ln/>
        </p:spPr>
        <p:txBody>
          <a:bodyPr wrap="square" lIns="0" tIns="0" rIns="0" bIns="0" rtlCol="0" anchor="ctr"/>
          <a:lstStyle/>
          <a:p>
            <a:pPr marL="0" indent="0" algn="ctr">
              <a:buNone/>
            </a:pPr>
            <a:r>
              <a:rPr lang="en-US" sz="1200" b="1" dirty="0">
                <a:solidFill>
                  <a:srgbClr val="FFFFFF"/>
                </a:solidFill>
              </a:rPr>
              <a:t>Phase 1: Contact hashing</a:t>
            </a:r>
            <a:endParaRPr lang="en-US" sz="1200" dirty="0"/>
          </a:p>
        </p:txBody>
      </p:sp>
      <p:sp>
        <p:nvSpPr>
          <p:cNvPr id="9" name="Shape 7"/>
          <p:cNvSpPr/>
          <p:nvPr/>
        </p:nvSpPr>
        <p:spPr>
          <a:xfrm>
            <a:off x="457200" y="1161288"/>
            <a:ext cx="3794760" cy="512064"/>
          </a:xfrm>
          <a:prstGeom prst="rect">
            <a:avLst/>
          </a:prstGeom>
          <a:solidFill>
            <a:srgbClr val="E0F2FE"/>
          </a:solidFill>
          <a:ln w="12700">
            <a:solidFill>
              <a:srgbClr val="7DD3FC"/>
            </a:solidFill>
            <a:prstDash val="solid"/>
          </a:ln>
        </p:spPr>
      </p:sp>
      <p:sp>
        <p:nvSpPr>
          <p:cNvPr id="10" name="Text 8"/>
          <p:cNvSpPr/>
          <p:nvPr/>
        </p:nvSpPr>
        <p:spPr>
          <a:xfrm>
            <a:off x="457200" y="1161288"/>
            <a:ext cx="3794760" cy="512064"/>
          </a:xfrm>
          <a:prstGeom prst="rect">
            <a:avLst/>
          </a:prstGeom>
          <a:noFill/>
          <a:ln/>
        </p:spPr>
        <p:txBody>
          <a:bodyPr wrap="square" rtlCol="0" anchor="ctr"/>
          <a:lstStyle/>
          <a:p>
            <a:pPr marL="0" indent="0" algn="ctr">
              <a:buNone/>
            </a:pPr>
            <a:r>
              <a:rPr lang="en-US" sz="1100" i="1" dirty="0">
                <a:solidFill>
                  <a:srgbClr val="0369A1"/>
                </a:solidFill>
              </a:rPr>
              <a:t>H(x) = SHA-256(x)  →  Px = H(x) · g ∈ G</a:t>
            </a:r>
            <a:endParaRPr lang="en-US" sz="1100" dirty="0"/>
          </a:p>
        </p:txBody>
      </p:sp>
      <p:sp>
        <p:nvSpPr>
          <p:cNvPr id="11" name="Shape 9"/>
          <p:cNvSpPr/>
          <p:nvPr/>
        </p:nvSpPr>
        <p:spPr>
          <a:xfrm>
            <a:off x="475488" y="1874520"/>
            <a:ext cx="1078992" cy="658368"/>
          </a:xfrm>
          <a:prstGeom prst="roundRect">
            <a:avLst>
              <a:gd name="adj" fmla="val 11111"/>
            </a:avLst>
          </a:prstGeom>
          <a:solidFill>
            <a:srgbClr val="DBEAFE"/>
          </a:solidFill>
          <a:ln w="19050">
            <a:solidFill>
              <a:srgbClr val="93C5FD"/>
            </a:solidFill>
            <a:prstDash val="solid"/>
          </a:ln>
        </p:spPr>
      </p:sp>
      <p:sp>
        <p:nvSpPr>
          <p:cNvPr id="12" name="Text 10"/>
          <p:cNvSpPr/>
          <p:nvPr/>
        </p:nvSpPr>
        <p:spPr>
          <a:xfrm>
            <a:off x="475488" y="1874520"/>
            <a:ext cx="1078992" cy="658368"/>
          </a:xfrm>
          <a:prstGeom prst="rect">
            <a:avLst/>
          </a:prstGeom>
          <a:noFill/>
          <a:ln/>
        </p:spPr>
        <p:txBody>
          <a:bodyPr wrap="square" rtlCol="0" anchor="ctr"/>
          <a:lstStyle/>
          <a:p>
            <a:pPr marL="0" indent="0" algn="ctr">
              <a:buNone/>
            </a:pPr>
            <a:r>
              <a:rPr lang="en-US" sz="900" dirty="0">
                <a:solidFill>
                  <a:srgbClr val="1E40AF"/>
                </a:solidFill>
              </a:rPr>
              <a:t>Phone number</a:t>
            </a:r>
            <a:endParaRPr lang="en-US" sz="900" dirty="0"/>
          </a:p>
          <a:p>
            <a:pPr marL="0" indent="0" algn="ctr">
              <a:buNone/>
            </a:pPr>
            <a:r>
              <a:rPr lang="en-US" sz="900" dirty="0">
                <a:solidFill>
                  <a:srgbClr val="1E40AF"/>
                </a:solidFill>
              </a:rPr>
              <a:t>"+91-98765..."</a:t>
            </a:r>
            <a:endParaRPr lang="en-US" sz="900" dirty="0"/>
          </a:p>
        </p:txBody>
      </p:sp>
      <p:sp>
        <p:nvSpPr>
          <p:cNvPr id="13" name="Text 11"/>
          <p:cNvSpPr/>
          <p:nvPr/>
        </p:nvSpPr>
        <p:spPr>
          <a:xfrm>
            <a:off x="1554480" y="1993392"/>
            <a:ext cx="228600" cy="411480"/>
          </a:xfrm>
          <a:prstGeom prst="rect">
            <a:avLst/>
          </a:prstGeom>
          <a:noFill/>
          <a:ln/>
        </p:spPr>
        <p:txBody>
          <a:bodyPr wrap="square" rtlCol="0" anchor="ctr"/>
          <a:lstStyle/>
          <a:p>
            <a:pPr marL="0" indent="0" algn="ctr">
              <a:buNone/>
            </a:pPr>
            <a:r>
              <a:rPr lang="en-US" sz="1400" dirty="0">
                <a:solidFill>
                  <a:srgbClr val="334155"/>
                </a:solidFill>
              </a:rPr>
              <a:t>→</a:t>
            </a:r>
            <a:endParaRPr lang="en-US" sz="1400" dirty="0"/>
          </a:p>
        </p:txBody>
      </p:sp>
      <p:sp>
        <p:nvSpPr>
          <p:cNvPr id="14" name="Shape 12"/>
          <p:cNvSpPr/>
          <p:nvPr/>
        </p:nvSpPr>
        <p:spPr>
          <a:xfrm>
            <a:off x="1783080" y="1874520"/>
            <a:ext cx="1078992" cy="658368"/>
          </a:xfrm>
          <a:prstGeom prst="roundRect">
            <a:avLst>
              <a:gd name="adj" fmla="val 11111"/>
            </a:avLst>
          </a:prstGeom>
          <a:solidFill>
            <a:srgbClr val="FEF3C7"/>
          </a:solidFill>
          <a:ln w="19050">
            <a:solidFill>
              <a:srgbClr val="EF9F27"/>
            </a:solidFill>
            <a:prstDash val="solid"/>
          </a:ln>
        </p:spPr>
      </p:sp>
      <p:sp>
        <p:nvSpPr>
          <p:cNvPr id="15" name="Text 13"/>
          <p:cNvSpPr/>
          <p:nvPr/>
        </p:nvSpPr>
        <p:spPr>
          <a:xfrm>
            <a:off x="1783080" y="1874520"/>
            <a:ext cx="1078992" cy="658368"/>
          </a:xfrm>
          <a:prstGeom prst="rect">
            <a:avLst/>
          </a:prstGeom>
          <a:noFill/>
          <a:ln/>
        </p:spPr>
        <p:txBody>
          <a:bodyPr wrap="square" rtlCol="0" anchor="ctr"/>
          <a:lstStyle/>
          <a:p>
            <a:pPr marL="0" indent="0" algn="ctr">
              <a:buNone/>
            </a:pPr>
            <a:r>
              <a:rPr lang="en-US" sz="900" dirty="0">
                <a:solidFill>
                  <a:srgbClr val="92400E"/>
                </a:solidFill>
              </a:rPr>
              <a:t>SHA-256</a:t>
            </a:r>
            <a:endParaRPr lang="en-US" sz="900" dirty="0"/>
          </a:p>
          <a:p>
            <a:pPr marL="0" indent="0" algn="ctr">
              <a:buNone/>
            </a:pPr>
            <a:r>
              <a:rPr lang="en-US" sz="900" dirty="0">
                <a:solidFill>
                  <a:srgbClr val="92400E"/>
                </a:solidFill>
              </a:rPr>
              <a:t>hash function</a:t>
            </a:r>
            <a:endParaRPr lang="en-US" sz="900" dirty="0"/>
          </a:p>
        </p:txBody>
      </p:sp>
      <p:sp>
        <p:nvSpPr>
          <p:cNvPr id="16" name="Text 14"/>
          <p:cNvSpPr/>
          <p:nvPr/>
        </p:nvSpPr>
        <p:spPr>
          <a:xfrm>
            <a:off x="2862072" y="1993392"/>
            <a:ext cx="228600" cy="411480"/>
          </a:xfrm>
          <a:prstGeom prst="rect">
            <a:avLst/>
          </a:prstGeom>
          <a:noFill/>
          <a:ln/>
        </p:spPr>
        <p:txBody>
          <a:bodyPr wrap="square" rtlCol="0" anchor="ctr"/>
          <a:lstStyle/>
          <a:p>
            <a:pPr marL="0" indent="0" algn="ctr">
              <a:buNone/>
            </a:pPr>
            <a:r>
              <a:rPr lang="en-US" sz="1400" dirty="0">
                <a:solidFill>
                  <a:srgbClr val="334155"/>
                </a:solidFill>
              </a:rPr>
              <a:t>→</a:t>
            </a:r>
            <a:endParaRPr lang="en-US" sz="1400" dirty="0"/>
          </a:p>
        </p:txBody>
      </p:sp>
      <p:sp>
        <p:nvSpPr>
          <p:cNvPr id="17" name="Shape 15"/>
          <p:cNvSpPr/>
          <p:nvPr/>
        </p:nvSpPr>
        <p:spPr>
          <a:xfrm>
            <a:off x="3090672" y="1874520"/>
            <a:ext cx="1078992" cy="658368"/>
          </a:xfrm>
          <a:prstGeom prst="roundRect">
            <a:avLst>
              <a:gd name="adj" fmla="val 11111"/>
            </a:avLst>
          </a:prstGeom>
          <a:solidFill>
            <a:srgbClr val="D1FAE5"/>
          </a:solidFill>
          <a:ln w="19050">
            <a:solidFill>
              <a:srgbClr val="1D9E75"/>
            </a:solidFill>
            <a:prstDash val="solid"/>
          </a:ln>
        </p:spPr>
      </p:sp>
      <p:sp>
        <p:nvSpPr>
          <p:cNvPr id="18" name="Text 16"/>
          <p:cNvSpPr/>
          <p:nvPr/>
        </p:nvSpPr>
        <p:spPr>
          <a:xfrm>
            <a:off x="3090672" y="1874520"/>
            <a:ext cx="1078992" cy="658368"/>
          </a:xfrm>
          <a:prstGeom prst="rect">
            <a:avLst/>
          </a:prstGeom>
          <a:noFill/>
          <a:ln/>
        </p:spPr>
        <p:txBody>
          <a:bodyPr wrap="square" rtlCol="0" anchor="ctr"/>
          <a:lstStyle/>
          <a:p>
            <a:pPr marL="0" indent="0" algn="ctr">
              <a:buNone/>
            </a:pPr>
            <a:r>
              <a:rPr lang="en-US" sz="900" dirty="0">
                <a:solidFill>
                  <a:srgbClr val="065F46"/>
                </a:solidFill>
              </a:rPr>
              <a:t>Curve point Px</a:t>
            </a:r>
            <a:endParaRPr lang="en-US" sz="900" dirty="0"/>
          </a:p>
          <a:p>
            <a:pPr marL="0" indent="0" algn="ctr">
              <a:buNone/>
            </a:pPr>
            <a:r>
              <a:rPr lang="en-US" sz="900" dirty="0">
                <a:solidFill>
                  <a:srgbClr val="065F46"/>
                </a:solidFill>
              </a:rPr>
              <a:t>(256-bit)</a:t>
            </a:r>
            <a:endParaRPr lang="en-US" sz="900" dirty="0"/>
          </a:p>
        </p:txBody>
      </p:sp>
      <p:sp>
        <p:nvSpPr>
          <p:cNvPr id="19" name="Text 17"/>
          <p:cNvSpPr/>
          <p:nvPr/>
        </p:nvSpPr>
        <p:spPr>
          <a:xfrm>
            <a:off x="457200" y="2670048"/>
            <a:ext cx="3794760" cy="749808"/>
          </a:xfrm>
          <a:prstGeom prst="rect">
            <a:avLst/>
          </a:prstGeom>
          <a:noFill/>
          <a:ln/>
        </p:spPr>
        <p:txBody>
          <a:bodyPr wrap="square" rtlCol="0" anchor="ctr"/>
          <a:lstStyle/>
          <a:p>
            <a:pPr marL="0" indent="0" algn="ctr">
              <a:buNone/>
            </a:pPr>
            <a:r>
              <a:rPr lang="en-US" sz="1050" dirty="0">
                <a:solidFill>
                  <a:srgbClr val="334155"/>
                </a:solidFill>
              </a:rPr>
              <a:t>Normalizes all identifiers to fixed 256-bit curve points.</a:t>
            </a:r>
            <a:endParaRPr lang="en-US" sz="1050" dirty="0"/>
          </a:p>
          <a:p>
            <a:pPr marL="0" indent="0" algn="ctr">
              <a:buNone/>
            </a:pPr>
            <a:r>
              <a:rPr lang="en-US" sz="1050" dirty="0">
                <a:solidFill>
                  <a:srgbClr val="334155"/>
                </a:solidFill>
              </a:rPr>
              <a:t>Pre-image resistance prevents hash reversal.</a:t>
            </a:r>
            <a:endParaRPr lang="en-US" sz="1050" dirty="0"/>
          </a:p>
        </p:txBody>
      </p:sp>
      <p:sp>
        <p:nvSpPr>
          <p:cNvPr id="20" name="Shape 18"/>
          <p:cNvSpPr/>
          <p:nvPr/>
        </p:nvSpPr>
        <p:spPr>
          <a:xfrm>
            <a:off x="4709160" y="713232"/>
            <a:ext cx="4160520" cy="3337560"/>
          </a:xfrm>
          <a:prstGeom prst="rect">
            <a:avLst/>
          </a:prstGeom>
          <a:solidFill>
            <a:srgbClr val="F8FAFC"/>
          </a:solidFill>
          <a:ln w="12700">
            <a:solidFill>
              <a:srgbClr val="CBD5E1"/>
            </a:solidFill>
            <a:prstDash val="solid"/>
          </a:ln>
        </p:spPr>
      </p:sp>
      <p:sp>
        <p:nvSpPr>
          <p:cNvPr id="21" name="Shape 19"/>
          <p:cNvSpPr/>
          <p:nvPr/>
        </p:nvSpPr>
        <p:spPr>
          <a:xfrm>
            <a:off x="4709160" y="713232"/>
            <a:ext cx="4160520" cy="347472"/>
          </a:xfrm>
          <a:prstGeom prst="rect">
            <a:avLst/>
          </a:prstGeom>
          <a:solidFill>
            <a:srgbClr val="1D9E75"/>
          </a:solidFill>
          <a:ln w="12700">
            <a:solidFill>
              <a:srgbClr val="1D9E75"/>
            </a:solidFill>
            <a:prstDash val="solid"/>
          </a:ln>
        </p:spPr>
      </p:sp>
      <p:sp>
        <p:nvSpPr>
          <p:cNvPr id="22" name="Text 20"/>
          <p:cNvSpPr/>
          <p:nvPr/>
        </p:nvSpPr>
        <p:spPr>
          <a:xfrm>
            <a:off x="4754880" y="713232"/>
            <a:ext cx="4069080" cy="347472"/>
          </a:xfrm>
          <a:prstGeom prst="rect">
            <a:avLst/>
          </a:prstGeom>
          <a:noFill/>
          <a:ln/>
        </p:spPr>
        <p:txBody>
          <a:bodyPr wrap="square" lIns="0" tIns="0" rIns="0" bIns="0" rtlCol="0" anchor="ctr"/>
          <a:lstStyle/>
          <a:p>
            <a:pPr marL="0" indent="0" algn="ctr">
              <a:buNone/>
            </a:pPr>
            <a:r>
              <a:rPr lang="en-US" sz="1200" b="1" dirty="0">
                <a:solidFill>
                  <a:srgbClr val="FFFFFF"/>
                </a:solidFill>
              </a:rPr>
              <a:t>Phase 2: Client-side blinding</a:t>
            </a:r>
            <a:endParaRPr lang="en-US" sz="1200" dirty="0"/>
          </a:p>
        </p:txBody>
      </p:sp>
      <p:sp>
        <p:nvSpPr>
          <p:cNvPr id="23" name="Shape 21"/>
          <p:cNvSpPr/>
          <p:nvPr/>
        </p:nvSpPr>
        <p:spPr>
          <a:xfrm>
            <a:off x="4892040" y="1161288"/>
            <a:ext cx="3794760" cy="512064"/>
          </a:xfrm>
          <a:prstGeom prst="rect">
            <a:avLst/>
          </a:prstGeom>
          <a:solidFill>
            <a:srgbClr val="D1FAE5"/>
          </a:solidFill>
          <a:ln w="12700">
            <a:solidFill>
              <a:srgbClr val="6EE7B7"/>
            </a:solidFill>
            <a:prstDash val="solid"/>
          </a:ln>
        </p:spPr>
      </p:sp>
      <p:sp>
        <p:nvSpPr>
          <p:cNvPr id="24" name="Text 22"/>
          <p:cNvSpPr/>
          <p:nvPr/>
        </p:nvSpPr>
        <p:spPr>
          <a:xfrm>
            <a:off x="4892040" y="1161288"/>
            <a:ext cx="3794760" cy="512064"/>
          </a:xfrm>
          <a:prstGeom prst="rect">
            <a:avLst/>
          </a:prstGeom>
          <a:noFill/>
          <a:ln/>
        </p:spPr>
        <p:txBody>
          <a:bodyPr wrap="square" rtlCol="0" anchor="ctr"/>
          <a:lstStyle/>
          <a:p>
            <a:pPr marL="0" indent="0" algn="ctr">
              <a:buNone/>
            </a:pPr>
            <a:r>
              <a:rPr lang="en-US" sz="1100" i="1" dirty="0">
                <a:solidFill>
                  <a:srgbClr val="1D9E75"/>
                </a:solidFill>
              </a:rPr>
              <a:t>Ea(x) = a · Px = a · H(x) · g</a:t>
            </a:r>
            <a:endParaRPr lang="en-US" sz="1100" dirty="0"/>
          </a:p>
        </p:txBody>
      </p:sp>
      <p:sp>
        <p:nvSpPr>
          <p:cNvPr id="25" name="Shape 23"/>
          <p:cNvSpPr/>
          <p:nvPr/>
        </p:nvSpPr>
        <p:spPr>
          <a:xfrm>
            <a:off x="4910328" y="1874520"/>
            <a:ext cx="1078992" cy="658368"/>
          </a:xfrm>
          <a:prstGeom prst="roundRect">
            <a:avLst>
              <a:gd name="adj" fmla="val 11111"/>
            </a:avLst>
          </a:prstGeom>
          <a:solidFill>
            <a:srgbClr val="D1FAE5"/>
          </a:solidFill>
          <a:ln w="19050">
            <a:solidFill>
              <a:srgbClr val="1D9E75"/>
            </a:solidFill>
            <a:prstDash val="solid"/>
          </a:ln>
        </p:spPr>
      </p:sp>
      <p:sp>
        <p:nvSpPr>
          <p:cNvPr id="26" name="Text 24"/>
          <p:cNvSpPr/>
          <p:nvPr/>
        </p:nvSpPr>
        <p:spPr>
          <a:xfrm>
            <a:off x="4910328" y="1874520"/>
            <a:ext cx="1078992" cy="658368"/>
          </a:xfrm>
          <a:prstGeom prst="rect">
            <a:avLst/>
          </a:prstGeom>
          <a:noFill/>
          <a:ln/>
        </p:spPr>
        <p:txBody>
          <a:bodyPr wrap="square" rtlCol="0" anchor="ctr"/>
          <a:lstStyle/>
          <a:p>
            <a:pPr marL="0" indent="0" algn="ctr">
              <a:buNone/>
            </a:pPr>
            <a:r>
              <a:rPr lang="en-US" sz="900" dirty="0">
                <a:solidFill>
                  <a:srgbClr val="065F46"/>
                </a:solidFill>
              </a:rPr>
              <a:t>Curve point</a:t>
            </a:r>
            <a:endParaRPr lang="en-US" sz="900" dirty="0"/>
          </a:p>
          <a:p>
            <a:pPr marL="0" indent="0" algn="ctr">
              <a:buNone/>
            </a:pPr>
            <a:r>
              <a:rPr lang="en-US" sz="900" dirty="0">
                <a:solidFill>
                  <a:srgbClr val="065F46"/>
                </a:solidFill>
              </a:rPr>
              <a:t>Px</a:t>
            </a:r>
            <a:endParaRPr lang="en-US" sz="900" dirty="0"/>
          </a:p>
        </p:txBody>
      </p:sp>
      <p:sp>
        <p:nvSpPr>
          <p:cNvPr id="27" name="Text 25"/>
          <p:cNvSpPr/>
          <p:nvPr/>
        </p:nvSpPr>
        <p:spPr>
          <a:xfrm>
            <a:off x="5989320" y="1993392"/>
            <a:ext cx="228600" cy="411480"/>
          </a:xfrm>
          <a:prstGeom prst="rect">
            <a:avLst/>
          </a:prstGeom>
          <a:noFill/>
          <a:ln/>
        </p:spPr>
        <p:txBody>
          <a:bodyPr wrap="square" rtlCol="0" anchor="ctr"/>
          <a:lstStyle/>
          <a:p>
            <a:pPr marL="0" indent="0" algn="ctr">
              <a:buNone/>
            </a:pPr>
            <a:r>
              <a:rPr lang="en-US" sz="1400" dirty="0">
                <a:solidFill>
                  <a:srgbClr val="334155"/>
                </a:solidFill>
              </a:rPr>
              <a:t>→</a:t>
            </a:r>
            <a:endParaRPr lang="en-US" sz="1400" dirty="0"/>
          </a:p>
        </p:txBody>
      </p:sp>
      <p:sp>
        <p:nvSpPr>
          <p:cNvPr id="28" name="Shape 26"/>
          <p:cNvSpPr/>
          <p:nvPr/>
        </p:nvSpPr>
        <p:spPr>
          <a:xfrm>
            <a:off x="6217920" y="1874520"/>
            <a:ext cx="1078992" cy="658368"/>
          </a:xfrm>
          <a:prstGeom prst="roundRect">
            <a:avLst>
              <a:gd name="adj" fmla="val 11111"/>
            </a:avLst>
          </a:prstGeom>
          <a:solidFill>
            <a:srgbClr val="FEF3C7"/>
          </a:solidFill>
          <a:ln w="19050">
            <a:solidFill>
              <a:srgbClr val="EF9F27"/>
            </a:solidFill>
            <a:prstDash val="solid"/>
          </a:ln>
        </p:spPr>
      </p:sp>
      <p:sp>
        <p:nvSpPr>
          <p:cNvPr id="29" name="Text 27"/>
          <p:cNvSpPr/>
          <p:nvPr/>
        </p:nvSpPr>
        <p:spPr>
          <a:xfrm>
            <a:off x="6217920" y="1874520"/>
            <a:ext cx="1078992" cy="658368"/>
          </a:xfrm>
          <a:prstGeom prst="rect">
            <a:avLst/>
          </a:prstGeom>
          <a:noFill/>
          <a:ln/>
        </p:spPr>
        <p:txBody>
          <a:bodyPr wrap="square" rtlCol="0" anchor="ctr"/>
          <a:lstStyle/>
          <a:p>
            <a:pPr marL="0" indent="0" algn="ctr">
              <a:buNone/>
            </a:pPr>
            <a:r>
              <a:rPr lang="en-US" sz="900" dirty="0">
                <a:solidFill>
                  <a:srgbClr val="92400E"/>
                </a:solidFill>
              </a:rPr>
              <a:t>Multiply by</a:t>
            </a:r>
            <a:endParaRPr lang="en-US" sz="900" dirty="0"/>
          </a:p>
          <a:p>
            <a:pPr marL="0" indent="0" algn="ctr">
              <a:buNone/>
            </a:pPr>
            <a:r>
              <a:rPr lang="en-US" sz="900" dirty="0">
                <a:solidFill>
                  <a:srgbClr val="92400E"/>
                </a:solidFill>
              </a:rPr>
              <a:t>secret scalar a</a:t>
            </a:r>
            <a:endParaRPr lang="en-US" sz="900" dirty="0"/>
          </a:p>
        </p:txBody>
      </p:sp>
      <p:sp>
        <p:nvSpPr>
          <p:cNvPr id="30" name="Text 28"/>
          <p:cNvSpPr/>
          <p:nvPr/>
        </p:nvSpPr>
        <p:spPr>
          <a:xfrm>
            <a:off x="7296912" y="1993392"/>
            <a:ext cx="228600" cy="411480"/>
          </a:xfrm>
          <a:prstGeom prst="rect">
            <a:avLst/>
          </a:prstGeom>
          <a:noFill/>
          <a:ln/>
        </p:spPr>
        <p:txBody>
          <a:bodyPr wrap="square" rtlCol="0" anchor="ctr"/>
          <a:lstStyle/>
          <a:p>
            <a:pPr marL="0" indent="0" algn="ctr">
              <a:buNone/>
            </a:pPr>
            <a:r>
              <a:rPr lang="en-US" sz="1400" dirty="0">
                <a:solidFill>
                  <a:srgbClr val="334155"/>
                </a:solidFill>
              </a:rPr>
              <a:t>→</a:t>
            </a:r>
            <a:endParaRPr lang="en-US" sz="1400" dirty="0"/>
          </a:p>
        </p:txBody>
      </p:sp>
      <p:sp>
        <p:nvSpPr>
          <p:cNvPr id="31" name="Shape 29"/>
          <p:cNvSpPr/>
          <p:nvPr/>
        </p:nvSpPr>
        <p:spPr>
          <a:xfrm>
            <a:off x="7525512" y="1874520"/>
            <a:ext cx="1078992" cy="658368"/>
          </a:xfrm>
          <a:prstGeom prst="roundRect">
            <a:avLst>
              <a:gd name="adj" fmla="val 11111"/>
            </a:avLst>
          </a:prstGeom>
          <a:solidFill>
            <a:srgbClr val="0A1628"/>
          </a:solidFill>
          <a:ln w="19050">
            <a:solidFill>
              <a:srgbClr val="475569"/>
            </a:solidFill>
            <a:prstDash val="solid"/>
          </a:ln>
        </p:spPr>
      </p:sp>
      <p:sp>
        <p:nvSpPr>
          <p:cNvPr id="32" name="Text 30"/>
          <p:cNvSpPr/>
          <p:nvPr/>
        </p:nvSpPr>
        <p:spPr>
          <a:xfrm>
            <a:off x="7525512" y="1874520"/>
            <a:ext cx="1078992" cy="658368"/>
          </a:xfrm>
          <a:prstGeom prst="rect">
            <a:avLst/>
          </a:prstGeom>
          <a:noFill/>
          <a:ln/>
        </p:spPr>
        <p:txBody>
          <a:bodyPr wrap="square" rtlCol="0" anchor="ctr"/>
          <a:lstStyle/>
          <a:p>
            <a:pPr marL="0" indent="0" algn="ctr">
              <a:buNone/>
            </a:pPr>
            <a:r>
              <a:rPr lang="en-US" sz="900" dirty="0">
                <a:solidFill>
                  <a:srgbClr val="FFFFFF"/>
                </a:solidFill>
              </a:rPr>
              <a:t>Blinded point</a:t>
            </a:r>
            <a:endParaRPr lang="en-US" sz="900" dirty="0"/>
          </a:p>
          <a:p>
            <a:pPr marL="0" indent="0" algn="ctr">
              <a:buNone/>
            </a:pPr>
            <a:r>
              <a:rPr lang="en-US" sz="900" dirty="0">
                <a:solidFill>
                  <a:srgbClr val="FFFFFF"/>
                </a:solidFill>
              </a:rPr>
              <a:t>Ea(x)</a:t>
            </a:r>
            <a:endParaRPr lang="en-US" sz="900" dirty="0"/>
          </a:p>
        </p:txBody>
      </p:sp>
      <p:sp>
        <p:nvSpPr>
          <p:cNvPr id="33" name="Text 31"/>
          <p:cNvSpPr/>
          <p:nvPr/>
        </p:nvSpPr>
        <p:spPr>
          <a:xfrm>
            <a:off x="4892040" y="2670048"/>
            <a:ext cx="3794760" cy="749808"/>
          </a:xfrm>
          <a:prstGeom prst="rect">
            <a:avLst/>
          </a:prstGeom>
          <a:noFill/>
          <a:ln/>
        </p:spPr>
        <p:txBody>
          <a:bodyPr wrap="square" rtlCol="0" anchor="ctr"/>
          <a:lstStyle/>
          <a:p>
            <a:pPr marL="0" indent="0" algn="ctr">
              <a:buNone/>
            </a:pPr>
            <a:r>
              <a:rPr lang="en-US" sz="1050" dirty="0">
                <a:solidFill>
                  <a:srgbClr val="334155"/>
                </a:solidFill>
              </a:rPr>
              <a:t>Server cannot recover H(x) from Ea(x) without solving the ECDLP.</a:t>
            </a:r>
            <a:endParaRPr lang="en-US" sz="1050" dirty="0"/>
          </a:p>
          <a:p>
            <a:pPr marL="0" indent="0" algn="ctr">
              <a:buNone/>
            </a:pPr>
            <a:r>
              <a:rPr lang="en-US" sz="1050" dirty="0">
                <a:solidFill>
                  <a:srgbClr val="334155"/>
                </a:solidFill>
              </a:rPr>
              <a:t>Set is shuffled before sending — prevents ordering inference.</a:t>
            </a:r>
            <a:endParaRPr lang="en-US" sz="1050" dirty="0"/>
          </a:p>
        </p:txBody>
      </p:sp>
      <p:sp>
        <p:nvSpPr>
          <p:cNvPr id="34" name="Shape 32"/>
          <p:cNvSpPr/>
          <p:nvPr/>
        </p:nvSpPr>
        <p:spPr>
          <a:xfrm>
            <a:off x="274320" y="4160520"/>
            <a:ext cx="8595360" cy="502920"/>
          </a:xfrm>
          <a:prstGeom prst="rect">
            <a:avLst/>
          </a:prstGeom>
          <a:solidFill>
            <a:srgbClr val="FEF3C7"/>
          </a:solidFill>
          <a:ln w="19050">
            <a:solidFill>
              <a:srgbClr val="EF9F27"/>
            </a:solidFill>
            <a:prstDash val="solid"/>
          </a:ln>
        </p:spPr>
      </p:sp>
      <p:sp>
        <p:nvSpPr>
          <p:cNvPr id="35" name="Text 33"/>
          <p:cNvSpPr/>
          <p:nvPr/>
        </p:nvSpPr>
        <p:spPr>
          <a:xfrm>
            <a:off x="411480" y="4160520"/>
            <a:ext cx="8321040" cy="502920"/>
          </a:xfrm>
          <a:prstGeom prst="rect">
            <a:avLst/>
          </a:prstGeom>
          <a:noFill/>
          <a:ln/>
        </p:spPr>
        <p:txBody>
          <a:bodyPr wrap="square" rtlCol="0" anchor="ctr"/>
          <a:lstStyle/>
          <a:p>
            <a:pPr marL="0" indent="0">
              <a:buNone/>
            </a:pPr>
            <a:r>
              <a:rPr lang="en-US" sz="1150" i="1" dirty="0">
                <a:solidFill>
                  <a:srgbClr val="92400E"/>
                </a:solidFill>
              </a:rPr>
              <a:t>Key insight: the client keeps scalar 'a' secret and never transmits it to the server at any point in the protocol.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Protocol phases 3 &amp; 4 — double encryption and intersection</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6</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13232"/>
            <a:ext cx="4160520" cy="3337560"/>
          </a:xfrm>
          <a:prstGeom prst="rect">
            <a:avLst/>
          </a:prstGeom>
          <a:solidFill>
            <a:srgbClr val="F8FAFC"/>
          </a:solidFill>
          <a:ln w="12700">
            <a:solidFill>
              <a:srgbClr val="CBD5E1"/>
            </a:solidFill>
            <a:prstDash val="solid"/>
          </a:ln>
        </p:spPr>
      </p:sp>
      <p:sp>
        <p:nvSpPr>
          <p:cNvPr id="7" name="Shape 5"/>
          <p:cNvSpPr/>
          <p:nvPr/>
        </p:nvSpPr>
        <p:spPr>
          <a:xfrm>
            <a:off x="274320" y="713232"/>
            <a:ext cx="4160520" cy="347472"/>
          </a:xfrm>
          <a:prstGeom prst="rect">
            <a:avLst/>
          </a:prstGeom>
          <a:solidFill>
            <a:srgbClr val="0A1628"/>
          </a:solidFill>
          <a:ln w="12700">
            <a:solidFill>
              <a:srgbClr val="0A1628"/>
            </a:solidFill>
            <a:prstDash val="solid"/>
          </a:ln>
        </p:spPr>
      </p:sp>
      <p:sp>
        <p:nvSpPr>
          <p:cNvPr id="8" name="Text 6"/>
          <p:cNvSpPr/>
          <p:nvPr/>
        </p:nvSpPr>
        <p:spPr>
          <a:xfrm>
            <a:off x="320040" y="713232"/>
            <a:ext cx="4069080" cy="347472"/>
          </a:xfrm>
          <a:prstGeom prst="rect">
            <a:avLst/>
          </a:prstGeom>
          <a:noFill/>
          <a:ln/>
        </p:spPr>
        <p:txBody>
          <a:bodyPr wrap="square" lIns="0" tIns="0" rIns="0" bIns="0" rtlCol="0" anchor="ctr"/>
          <a:lstStyle/>
          <a:p>
            <a:pPr marL="0" indent="0" algn="ctr">
              <a:buNone/>
            </a:pPr>
            <a:r>
              <a:rPr lang="en-US" sz="1200" b="1" dirty="0">
                <a:solidFill>
                  <a:srgbClr val="FFFFFF"/>
                </a:solidFill>
              </a:rPr>
              <a:t>Phase 3: Server-side double encryption</a:t>
            </a:r>
            <a:endParaRPr lang="en-US" sz="1200" dirty="0"/>
          </a:p>
        </p:txBody>
      </p:sp>
      <p:sp>
        <p:nvSpPr>
          <p:cNvPr id="9" name="Shape 7"/>
          <p:cNvSpPr/>
          <p:nvPr/>
        </p:nvSpPr>
        <p:spPr>
          <a:xfrm>
            <a:off x="457200" y="1161288"/>
            <a:ext cx="3794760" cy="438912"/>
          </a:xfrm>
          <a:prstGeom prst="rect">
            <a:avLst/>
          </a:prstGeom>
          <a:solidFill>
            <a:srgbClr val="EFF6FF"/>
          </a:solidFill>
          <a:ln w="12700">
            <a:solidFill>
              <a:srgbClr val="BFDBFE"/>
            </a:solidFill>
            <a:prstDash val="solid"/>
          </a:ln>
        </p:spPr>
      </p:sp>
      <p:sp>
        <p:nvSpPr>
          <p:cNvPr id="10" name="Text 8"/>
          <p:cNvSpPr/>
          <p:nvPr/>
        </p:nvSpPr>
        <p:spPr>
          <a:xfrm>
            <a:off x="457200" y="1161288"/>
            <a:ext cx="3794760" cy="438912"/>
          </a:xfrm>
          <a:prstGeom prst="rect">
            <a:avLst/>
          </a:prstGeom>
          <a:noFill/>
          <a:ln/>
        </p:spPr>
        <p:txBody>
          <a:bodyPr wrap="square" rtlCol="0" anchor="ctr"/>
          <a:lstStyle/>
          <a:p>
            <a:pPr marL="0" indent="0" algn="ctr">
              <a:buNone/>
            </a:pPr>
            <a:r>
              <a:rPr lang="en-US" sz="1050" i="1" dirty="0">
                <a:solidFill>
                  <a:srgbClr val="1E3A5F"/>
                </a:solidFill>
              </a:rPr>
              <a:t>Eb(Ea(x)) = b · a · H(x) · g  [client set]</a:t>
            </a:r>
            <a:endParaRPr lang="en-US" sz="1050" dirty="0"/>
          </a:p>
        </p:txBody>
      </p:sp>
      <p:sp>
        <p:nvSpPr>
          <p:cNvPr id="11" name="Shape 9"/>
          <p:cNvSpPr/>
          <p:nvPr/>
        </p:nvSpPr>
        <p:spPr>
          <a:xfrm>
            <a:off x="457200" y="1664208"/>
            <a:ext cx="3794760" cy="438912"/>
          </a:xfrm>
          <a:prstGeom prst="rect">
            <a:avLst/>
          </a:prstGeom>
          <a:solidFill>
            <a:srgbClr val="EFF6FF"/>
          </a:solidFill>
          <a:ln w="12700">
            <a:solidFill>
              <a:srgbClr val="BFDBFE"/>
            </a:solidFill>
            <a:prstDash val="solid"/>
          </a:ln>
        </p:spPr>
      </p:sp>
      <p:sp>
        <p:nvSpPr>
          <p:cNvPr id="12" name="Text 10"/>
          <p:cNvSpPr/>
          <p:nvPr/>
        </p:nvSpPr>
        <p:spPr>
          <a:xfrm>
            <a:off x="457200" y="1664208"/>
            <a:ext cx="3794760" cy="438912"/>
          </a:xfrm>
          <a:prstGeom prst="rect">
            <a:avLst/>
          </a:prstGeom>
          <a:noFill/>
          <a:ln/>
        </p:spPr>
        <p:txBody>
          <a:bodyPr wrap="square" rtlCol="0" anchor="ctr"/>
          <a:lstStyle/>
          <a:p>
            <a:pPr marL="0" indent="0" algn="ctr">
              <a:buNone/>
            </a:pPr>
            <a:r>
              <a:rPr lang="en-US" sz="1050" i="1" dirty="0">
                <a:solidFill>
                  <a:srgbClr val="1E3A5F"/>
                </a:solidFill>
              </a:rPr>
              <a:t>Eb(y) = b · H(y) · g  [server's own registered set]</a:t>
            </a:r>
            <a:endParaRPr lang="en-US" sz="1050" dirty="0"/>
          </a:p>
        </p:txBody>
      </p:sp>
      <p:sp>
        <p:nvSpPr>
          <p:cNvPr id="13" name="Shape 11"/>
          <p:cNvSpPr/>
          <p:nvPr/>
        </p:nvSpPr>
        <p:spPr>
          <a:xfrm>
            <a:off x="411480" y="2286000"/>
            <a:ext cx="1170432" cy="594360"/>
          </a:xfrm>
          <a:prstGeom prst="roundRect">
            <a:avLst>
              <a:gd name="adj" fmla="val 10769"/>
            </a:avLst>
          </a:prstGeom>
          <a:solidFill>
            <a:srgbClr val="D1FAE5"/>
          </a:solidFill>
          <a:ln w="19050">
            <a:solidFill>
              <a:srgbClr val="1D9E75"/>
            </a:solidFill>
            <a:prstDash val="solid"/>
          </a:ln>
        </p:spPr>
      </p:sp>
      <p:sp>
        <p:nvSpPr>
          <p:cNvPr id="14" name="Text 12"/>
          <p:cNvSpPr/>
          <p:nvPr/>
        </p:nvSpPr>
        <p:spPr>
          <a:xfrm>
            <a:off x="411480" y="2286000"/>
            <a:ext cx="1170432" cy="594360"/>
          </a:xfrm>
          <a:prstGeom prst="rect">
            <a:avLst/>
          </a:prstGeom>
          <a:noFill/>
          <a:ln/>
        </p:spPr>
        <p:txBody>
          <a:bodyPr wrap="square" rtlCol="0" anchor="ctr"/>
          <a:lstStyle/>
          <a:p>
            <a:pPr marL="0" indent="0" algn="ctr">
              <a:buNone/>
            </a:pPr>
            <a:r>
              <a:rPr lang="en-US" sz="900" dirty="0">
                <a:solidFill>
                  <a:srgbClr val="065F46"/>
                </a:solidFill>
              </a:rPr>
              <a:t>Ea(x)</a:t>
            </a:r>
            <a:endParaRPr lang="en-US" sz="900" dirty="0"/>
          </a:p>
          <a:p>
            <a:pPr marL="0" indent="0" algn="ctr">
              <a:buNone/>
            </a:pPr>
            <a:r>
              <a:rPr lang="en-US" sz="900" dirty="0">
                <a:solidFill>
                  <a:srgbClr val="065F46"/>
                </a:solidFill>
              </a:rPr>
              <a:t>received</a:t>
            </a:r>
            <a:endParaRPr lang="en-US" sz="900" dirty="0"/>
          </a:p>
        </p:txBody>
      </p:sp>
      <p:sp>
        <p:nvSpPr>
          <p:cNvPr id="15" name="Text 13"/>
          <p:cNvSpPr/>
          <p:nvPr/>
        </p:nvSpPr>
        <p:spPr>
          <a:xfrm>
            <a:off x="1581912" y="2395728"/>
            <a:ext cx="228600" cy="384048"/>
          </a:xfrm>
          <a:prstGeom prst="rect">
            <a:avLst/>
          </a:prstGeom>
          <a:noFill/>
          <a:ln/>
        </p:spPr>
        <p:txBody>
          <a:bodyPr wrap="square" rtlCol="0" anchor="ctr"/>
          <a:lstStyle/>
          <a:p>
            <a:pPr marL="0" indent="0" algn="ctr">
              <a:buNone/>
            </a:pPr>
            <a:r>
              <a:rPr lang="en-US" sz="1400" dirty="0">
                <a:solidFill>
                  <a:srgbClr val="334155"/>
                </a:solidFill>
              </a:rPr>
              <a:t>→</a:t>
            </a:r>
            <a:endParaRPr lang="en-US" sz="1400" dirty="0"/>
          </a:p>
        </p:txBody>
      </p:sp>
      <p:sp>
        <p:nvSpPr>
          <p:cNvPr id="16" name="Shape 14"/>
          <p:cNvSpPr/>
          <p:nvPr/>
        </p:nvSpPr>
        <p:spPr>
          <a:xfrm>
            <a:off x="1719072" y="2286000"/>
            <a:ext cx="1170432" cy="594360"/>
          </a:xfrm>
          <a:prstGeom prst="roundRect">
            <a:avLst>
              <a:gd name="adj" fmla="val 10769"/>
            </a:avLst>
          </a:prstGeom>
          <a:solidFill>
            <a:srgbClr val="FEF3C7"/>
          </a:solidFill>
          <a:ln w="19050">
            <a:solidFill>
              <a:srgbClr val="EF9F27"/>
            </a:solidFill>
            <a:prstDash val="solid"/>
          </a:ln>
        </p:spPr>
      </p:sp>
      <p:sp>
        <p:nvSpPr>
          <p:cNvPr id="17" name="Text 15"/>
          <p:cNvSpPr/>
          <p:nvPr/>
        </p:nvSpPr>
        <p:spPr>
          <a:xfrm>
            <a:off x="1719072" y="2286000"/>
            <a:ext cx="1170432" cy="594360"/>
          </a:xfrm>
          <a:prstGeom prst="rect">
            <a:avLst/>
          </a:prstGeom>
          <a:noFill/>
          <a:ln/>
        </p:spPr>
        <p:txBody>
          <a:bodyPr wrap="square" rtlCol="0" anchor="ctr"/>
          <a:lstStyle/>
          <a:p>
            <a:pPr marL="0" indent="0" algn="ctr">
              <a:buNone/>
            </a:pPr>
            <a:r>
              <a:rPr lang="en-US" sz="900" dirty="0">
                <a:solidFill>
                  <a:srgbClr val="92400E"/>
                </a:solidFill>
              </a:rPr>
              <a:t>Apply</a:t>
            </a:r>
            <a:endParaRPr lang="en-US" sz="900" dirty="0"/>
          </a:p>
          <a:p>
            <a:pPr marL="0" indent="0" algn="ctr">
              <a:buNone/>
            </a:pPr>
            <a:r>
              <a:rPr lang="en-US" sz="900" dirty="0">
                <a:solidFill>
                  <a:srgbClr val="92400E"/>
                </a:solidFill>
              </a:rPr>
              <a:t>scalar b</a:t>
            </a:r>
            <a:endParaRPr lang="en-US" sz="900" dirty="0"/>
          </a:p>
        </p:txBody>
      </p:sp>
      <p:sp>
        <p:nvSpPr>
          <p:cNvPr id="18" name="Text 16"/>
          <p:cNvSpPr/>
          <p:nvPr/>
        </p:nvSpPr>
        <p:spPr>
          <a:xfrm>
            <a:off x="2889504" y="2395728"/>
            <a:ext cx="228600" cy="384048"/>
          </a:xfrm>
          <a:prstGeom prst="rect">
            <a:avLst/>
          </a:prstGeom>
          <a:noFill/>
          <a:ln/>
        </p:spPr>
        <p:txBody>
          <a:bodyPr wrap="square" rtlCol="0" anchor="ctr"/>
          <a:lstStyle/>
          <a:p>
            <a:pPr marL="0" indent="0" algn="ctr">
              <a:buNone/>
            </a:pPr>
            <a:r>
              <a:rPr lang="en-US" sz="1400" dirty="0">
                <a:solidFill>
                  <a:srgbClr val="334155"/>
                </a:solidFill>
              </a:rPr>
              <a:t>→</a:t>
            </a:r>
            <a:endParaRPr lang="en-US" sz="1400" dirty="0"/>
          </a:p>
        </p:txBody>
      </p:sp>
      <p:sp>
        <p:nvSpPr>
          <p:cNvPr id="19" name="Shape 17"/>
          <p:cNvSpPr/>
          <p:nvPr/>
        </p:nvSpPr>
        <p:spPr>
          <a:xfrm>
            <a:off x="3026664" y="2286000"/>
            <a:ext cx="1170432" cy="594360"/>
          </a:xfrm>
          <a:prstGeom prst="roundRect">
            <a:avLst>
              <a:gd name="adj" fmla="val 10769"/>
            </a:avLst>
          </a:prstGeom>
          <a:solidFill>
            <a:srgbClr val="0A1628"/>
          </a:solidFill>
          <a:ln w="19050">
            <a:solidFill>
              <a:srgbClr val="475569"/>
            </a:solidFill>
            <a:prstDash val="solid"/>
          </a:ln>
        </p:spPr>
      </p:sp>
      <p:sp>
        <p:nvSpPr>
          <p:cNvPr id="20" name="Text 18"/>
          <p:cNvSpPr/>
          <p:nvPr/>
        </p:nvSpPr>
        <p:spPr>
          <a:xfrm>
            <a:off x="3026664" y="2286000"/>
            <a:ext cx="1170432" cy="594360"/>
          </a:xfrm>
          <a:prstGeom prst="rect">
            <a:avLst/>
          </a:prstGeom>
          <a:noFill/>
          <a:ln/>
        </p:spPr>
        <p:txBody>
          <a:bodyPr wrap="square" rtlCol="0" anchor="ctr"/>
          <a:lstStyle/>
          <a:p>
            <a:pPr marL="0" indent="0" algn="ctr">
              <a:buNone/>
            </a:pPr>
            <a:r>
              <a:rPr lang="en-US" sz="900" dirty="0">
                <a:solidFill>
                  <a:srgbClr val="FFFFFF"/>
                </a:solidFill>
              </a:rPr>
              <a:t>Eb(Ea(x))</a:t>
            </a:r>
            <a:endParaRPr lang="en-US" sz="900" dirty="0"/>
          </a:p>
          <a:p>
            <a:pPr marL="0" indent="0" algn="ctr">
              <a:buNone/>
            </a:pPr>
            <a:r>
              <a:rPr lang="en-US" sz="900" dirty="0">
                <a:solidFill>
                  <a:srgbClr val="FFFFFF"/>
                </a:solidFill>
              </a:rPr>
              <a:t>doubly blinded</a:t>
            </a:r>
            <a:endParaRPr lang="en-US" sz="900" dirty="0"/>
          </a:p>
        </p:txBody>
      </p:sp>
      <p:sp>
        <p:nvSpPr>
          <p:cNvPr id="21" name="Text 19"/>
          <p:cNvSpPr/>
          <p:nvPr/>
        </p:nvSpPr>
        <p:spPr>
          <a:xfrm>
            <a:off x="411480" y="2999232"/>
            <a:ext cx="3794760" cy="347472"/>
          </a:xfrm>
          <a:prstGeom prst="rect">
            <a:avLst/>
          </a:prstGeom>
          <a:noFill/>
          <a:ln/>
        </p:spPr>
        <p:txBody>
          <a:bodyPr wrap="square" rtlCol="0" anchor="ctr"/>
          <a:lstStyle/>
          <a:p>
            <a:pPr marL="0" indent="0" algn="ctr">
              <a:buNone/>
            </a:pPr>
            <a:r>
              <a:rPr lang="en-US" sz="1050" dirty="0">
                <a:solidFill>
                  <a:srgbClr val="334155"/>
                </a:solidFill>
              </a:rPr>
              <a:t>Both resulting sets are returned to the client.</a:t>
            </a:r>
            <a:endParaRPr lang="en-US" sz="1050" dirty="0"/>
          </a:p>
        </p:txBody>
      </p:sp>
      <p:sp>
        <p:nvSpPr>
          <p:cNvPr id="22" name="Shape 20"/>
          <p:cNvSpPr/>
          <p:nvPr/>
        </p:nvSpPr>
        <p:spPr>
          <a:xfrm>
            <a:off x="4709160" y="713232"/>
            <a:ext cx="4160520" cy="3337560"/>
          </a:xfrm>
          <a:prstGeom prst="rect">
            <a:avLst/>
          </a:prstGeom>
          <a:solidFill>
            <a:srgbClr val="F8FAFC"/>
          </a:solidFill>
          <a:ln w="12700">
            <a:solidFill>
              <a:srgbClr val="CBD5E1"/>
            </a:solidFill>
            <a:prstDash val="solid"/>
          </a:ln>
        </p:spPr>
      </p:sp>
      <p:sp>
        <p:nvSpPr>
          <p:cNvPr id="23" name="Shape 21"/>
          <p:cNvSpPr/>
          <p:nvPr/>
        </p:nvSpPr>
        <p:spPr>
          <a:xfrm>
            <a:off x="4709160" y="713232"/>
            <a:ext cx="4160520" cy="347472"/>
          </a:xfrm>
          <a:prstGeom prst="rect">
            <a:avLst/>
          </a:prstGeom>
          <a:solidFill>
            <a:srgbClr val="1D9E75"/>
          </a:solidFill>
          <a:ln w="12700">
            <a:solidFill>
              <a:srgbClr val="1D9E75"/>
            </a:solidFill>
            <a:prstDash val="solid"/>
          </a:ln>
        </p:spPr>
      </p:sp>
      <p:sp>
        <p:nvSpPr>
          <p:cNvPr id="24" name="Text 22"/>
          <p:cNvSpPr/>
          <p:nvPr/>
        </p:nvSpPr>
        <p:spPr>
          <a:xfrm>
            <a:off x="4754880" y="713232"/>
            <a:ext cx="4069080" cy="347472"/>
          </a:xfrm>
          <a:prstGeom prst="rect">
            <a:avLst/>
          </a:prstGeom>
          <a:noFill/>
          <a:ln/>
        </p:spPr>
        <p:txBody>
          <a:bodyPr wrap="square" lIns="0" tIns="0" rIns="0" bIns="0" rtlCol="0" anchor="ctr"/>
          <a:lstStyle/>
          <a:p>
            <a:pPr marL="0" indent="0" algn="ctr">
              <a:buNone/>
            </a:pPr>
            <a:r>
              <a:rPr lang="en-US" sz="1200" b="1" dirty="0">
                <a:solidFill>
                  <a:srgbClr val="FFFFFF"/>
                </a:solidFill>
              </a:rPr>
              <a:t>Phase 4: Intersection computation</a:t>
            </a:r>
            <a:endParaRPr lang="en-US" sz="1200" dirty="0"/>
          </a:p>
        </p:txBody>
      </p:sp>
      <p:sp>
        <p:nvSpPr>
          <p:cNvPr id="25" name="Shape 23"/>
          <p:cNvSpPr/>
          <p:nvPr/>
        </p:nvSpPr>
        <p:spPr>
          <a:xfrm>
            <a:off x="4892040" y="1161288"/>
            <a:ext cx="3794760" cy="438912"/>
          </a:xfrm>
          <a:prstGeom prst="rect">
            <a:avLst/>
          </a:prstGeom>
          <a:solidFill>
            <a:srgbClr val="D1FAE5"/>
          </a:solidFill>
          <a:ln w="12700">
            <a:solidFill>
              <a:srgbClr val="6EE7B7"/>
            </a:solidFill>
            <a:prstDash val="solid"/>
          </a:ln>
        </p:spPr>
      </p:sp>
      <p:sp>
        <p:nvSpPr>
          <p:cNvPr id="26" name="Text 24"/>
          <p:cNvSpPr/>
          <p:nvPr/>
        </p:nvSpPr>
        <p:spPr>
          <a:xfrm>
            <a:off x="4892040" y="1161288"/>
            <a:ext cx="3794760" cy="438912"/>
          </a:xfrm>
          <a:prstGeom prst="rect">
            <a:avLst/>
          </a:prstGeom>
          <a:noFill/>
          <a:ln/>
        </p:spPr>
        <p:txBody>
          <a:bodyPr wrap="square" rtlCol="0" anchor="ctr"/>
          <a:lstStyle/>
          <a:p>
            <a:pPr marL="0" indent="0" algn="ctr">
              <a:buNone/>
            </a:pPr>
            <a:r>
              <a:rPr lang="en-US" sz="1050" i="1" dirty="0">
                <a:solidFill>
                  <a:srgbClr val="065F46"/>
                </a:solidFill>
              </a:rPr>
              <a:t>Ea(Eb(y)) = a·b·H(y)·g = Eb(Ea(y))  ✓</a:t>
            </a:r>
            <a:endParaRPr lang="en-US" sz="1050" dirty="0"/>
          </a:p>
        </p:txBody>
      </p:sp>
      <p:sp>
        <p:nvSpPr>
          <p:cNvPr id="27" name="Shape 25"/>
          <p:cNvSpPr/>
          <p:nvPr/>
        </p:nvSpPr>
        <p:spPr>
          <a:xfrm>
            <a:off x="4892040" y="1664208"/>
            <a:ext cx="3794760" cy="566928"/>
          </a:xfrm>
          <a:prstGeom prst="rect">
            <a:avLst/>
          </a:prstGeom>
          <a:solidFill>
            <a:srgbClr val="ECFDF5"/>
          </a:solidFill>
          <a:ln w="25400">
            <a:solidFill>
              <a:srgbClr val="1D9E75"/>
            </a:solidFill>
            <a:prstDash val="solid"/>
          </a:ln>
        </p:spPr>
      </p:sp>
      <p:sp>
        <p:nvSpPr>
          <p:cNvPr id="28" name="Text 26"/>
          <p:cNvSpPr/>
          <p:nvPr/>
        </p:nvSpPr>
        <p:spPr>
          <a:xfrm>
            <a:off x="4892040" y="1664208"/>
            <a:ext cx="3794760" cy="566928"/>
          </a:xfrm>
          <a:prstGeom prst="rect">
            <a:avLst/>
          </a:prstGeom>
          <a:noFill/>
          <a:ln/>
        </p:spPr>
        <p:txBody>
          <a:bodyPr wrap="square" rtlCol="0" anchor="ctr"/>
          <a:lstStyle/>
          <a:p>
            <a:pPr marL="0" indent="0" algn="ctr">
              <a:buNone/>
            </a:pPr>
            <a:r>
              <a:rPr lang="en-US" sz="1100" b="1" dirty="0">
                <a:solidFill>
                  <a:srgbClr val="065F46"/>
                </a:solidFill>
              </a:rPr>
              <a:t>Because ab = ba in Zⁱ (commutative!)</a:t>
            </a:r>
            <a:endParaRPr lang="en-US" sz="1100" dirty="0"/>
          </a:p>
          <a:p>
            <a:pPr marL="0" indent="0" algn="ctr">
              <a:buNone/>
            </a:pPr>
            <a:r>
              <a:rPr lang="en-US" sz="1100" b="1" dirty="0">
                <a:solidFill>
                  <a:srgbClr val="065F46"/>
                </a:solidFill>
              </a:rPr>
              <a:t>both paths produce identical results</a:t>
            </a:r>
            <a:endParaRPr lang="en-US" sz="1100" dirty="0"/>
          </a:p>
        </p:txBody>
      </p:sp>
      <p:sp>
        <p:nvSpPr>
          <p:cNvPr id="29" name="Shape 27"/>
          <p:cNvSpPr/>
          <p:nvPr/>
        </p:nvSpPr>
        <p:spPr>
          <a:xfrm>
            <a:off x="4846320" y="2359152"/>
            <a:ext cx="1691640" cy="502920"/>
          </a:xfrm>
          <a:prstGeom prst="roundRect">
            <a:avLst>
              <a:gd name="adj" fmla="val 10909"/>
            </a:avLst>
          </a:prstGeom>
          <a:solidFill>
            <a:srgbClr val="EFF6FF"/>
          </a:solidFill>
          <a:ln w="12700">
            <a:solidFill>
              <a:srgbClr val="93C5FD"/>
            </a:solidFill>
            <a:prstDash val="solid"/>
          </a:ln>
        </p:spPr>
      </p:sp>
      <p:sp>
        <p:nvSpPr>
          <p:cNvPr id="30" name="Text 28"/>
          <p:cNvSpPr/>
          <p:nvPr/>
        </p:nvSpPr>
        <p:spPr>
          <a:xfrm>
            <a:off x="4846320" y="2359152"/>
            <a:ext cx="1691640" cy="502920"/>
          </a:xfrm>
          <a:prstGeom prst="rect">
            <a:avLst/>
          </a:prstGeom>
          <a:noFill/>
          <a:ln/>
        </p:spPr>
        <p:txBody>
          <a:bodyPr wrap="square" rtlCol="0" anchor="ctr"/>
          <a:lstStyle/>
          <a:p>
            <a:pPr marL="0" indent="0" algn="ctr">
              <a:buNone/>
            </a:pPr>
            <a:r>
              <a:rPr lang="en-US" sz="900" dirty="0">
                <a:solidFill>
                  <a:srgbClr val="1E40AF"/>
                </a:solidFill>
              </a:rPr>
              <a:t>Doubly-blinded</a:t>
            </a:r>
            <a:endParaRPr lang="en-US" sz="900" dirty="0"/>
          </a:p>
          <a:p>
            <a:pPr marL="0" indent="0" algn="ctr">
              <a:buNone/>
            </a:pPr>
            <a:r>
              <a:rPr lang="en-US" sz="900" dirty="0">
                <a:solidFill>
                  <a:srgbClr val="1E40AF"/>
                </a:solidFill>
              </a:rPr>
              <a:t>contacts</a:t>
            </a:r>
            <a:endParaRPr lang="en-US" sz="900" dirty="0"/>
          </a:p>
        </p:txBody>
      </p:sp>
      <p:sp>
        <p:nvSpPr>
          <p:cNvPr id="31" name="Shape 29"/>
          <p:cNvSpPr/>
          <p:nvPr/>
        </p:nvSpPr>
        <p:spPr>
          <a:xfrm>
            <a:off x="6601968" y="2313432"/>
            <a:ext cx="530352" cy="566928"/>
          </a:xfrm>
          <a:prstGeom prst="ellipse">
            <a:avLst/>
          </a:prstGeom>
          <a:solidFill>
            <a:srgbClr val="D1FAE5"/>
          </a:solidFill>
          <a:ln w="25400">
            <a:solidFill>
              <a:srgbClr val="1D9E75"/>
            </a:solidFill>
            <a:prstDash val="solid"/>
          </a:ln>
        </p:spPr>
      </p:sp>
      <p:sp>
        <p:nvSpPr>
          <p:cNvPr id="32" name="Text 30"/>
          <p:cNvSpPr/>
          <p:nvPr/>
        </p:nvSpPr>
        <p:spPr>
          <a:xfrm>
            <a:off x="6601968" y="2313432"/>
            <a:ext cx="530352" cy="566928"/>
          </a:xfrm>
          <a:prstGeom prst="rect">
            <a:avLst/>
          </a:prstGeom>
          <a:noFill/>
          <a:ln/>
        </p:spPr>
        <p:txBody>
          <a:bodyPr wrap="square" rtlCol="0" anchor="ctr"/>
          <a:lstStyle/>
          <a:p>
            <a:pPr marL="0" indent="0" algn="ctr">
              <a:buNone/>
            </a:pPr>
            <a:r>
              <a:rPr lang="en-US" sz="1600" b="1" dirty="0">
                <a:solidFill>
                  <a:srgbClr val="065F46"/>
                </a:solidFill>
              </a:rPr>
              <a:t>∩</a:t>
            </a:r>
            <a:endParaRPr lang="en-US" sz="1600" dirty="0"/>
          </a:p>
        </p:txBody>
      </p:sp>
      <p:sp>
        <p:nvSpPr>
          <p:cNvPr id="33" name="Shape 31"/>
          <p:cNvSpPr/>
          <p:nvPr/>
        </p:nvSpPr>
        <p:spPr>
          <a:xfrm>
            <a:off x="7196328" y="2359152"/>
            <a:ext cx="1627632" cy="502920"/>
          </a:xfrm>
          <a:prstGeom prst="roundRect">
            <a:avLst>
              <a:gd name="adj" fmla="val 10909"/>
            </a:avLst>
          </a:prstGeom>
          <a:solidFill>
            <a:srgbClr val="EFF6FF"/>
          </a:solidFill>
          <a:ln w="12700">
            <a:solidFill>
              <a:srgbClr val="93C5FD"/>
            </a:solidFill>
            <a:prstDash val="solid"/>
          </a:ln>
        </p:spPr>
      </p:sp>
      <p:sp>
        <p:nvSpPr>
          <p:cNvPr id="34" name="Text 32"/>
          <p:cNvSpPr/>
          <p:nvPr/>
        </p:nvSpPr>
        <p:spPr>
          <a:xfrm>
            <a:off x="7196328" y="2359152"/>
            <a:ext cx="1627632" cy="502920"/>
          </a:xfrm>
          <a:prstGeom prst="rect">
            <a:avLst/>
          </a:prstGeom>
          <a:noFill/>
          <a:ln/>
        </p:spPr>
        <p:txBody>
          <a:bodyPr wrap="square" rtlCol="0" anchor="ctr"/>
          <a:lstStyle/>
          <a:p>
            <a:pPr marL="0" indent="0" algn="ctr">
              <a:buNone/>
            </a:pPr>
            <a:r>
              <a:rPr lang="en-US" sz="900" dirty="0">
                <a:solidFill>
                  <a:srgbClr val="1E40AF"/>
                </a:solidFill>
              </a:rPr>
              <a:t>Server list</a:t>
            </a:r>
            <a:endParaRPr lang="en-US" sz="900" dirty="0"/>
          </a:p>
          <a:p>
            <a:pPr marL="0" indent="0" algn="ctr">
              <a:buNone/>
            </a:pPr>
            <a:r>
              <a:rPr lang="en-US" sz="900" dirty="0">
                <a:solidFill>
                  <a:srgbClr val="1E40AF"/>
                </a:solidFill>
              </a:rPr>
              <a:t>re-blinded by client</a:t>
            </a:r>
            <a:endParaRPr lang="en-US" sz="900" dirty="0"/>
          </a:p>
        </p:txBody>
      </p:sp>
      <p:sp>
        <p:nvSpPr>
          <p:cNvPr id="35" name="Text 33"/>
          <p:cNvSpPr/>
          <p:nvPr/>
        </p:nvSpPr>
        <p:spPr>
          <a:xfrm>
            <a:off x="4892040" y="2990088"/>
            <a:ext cx="3794760" cy="475488"/>
          </a:xfrm>
          <a:prstGeom prst="rect">
            <a:avLst/>
          </a:prstGeom>
          <a:noFill/>
          <a:ln/>
        </p:spPr>
        <p:txBody>
          <a:bodyPr wrap="square" rtlCol="0" anchor="ctr"/>
          <a:lstStyle/>
          <a:p>
            <a:pPr marL="0" indent="0" algn="ctr">
              <a:buNone/>
            </a:pPr>
            <a:r>
              <a:rPr lang="en-US" sz="1000" dirty="0">
                <a:solidFill>
                  <a:srgbClr val="334155"/>
                </a:solidFill>
              </a:rPr>
              <a:t>O(n) hash-set lookup. Plaintext recovered via local lookup table — never sent to server.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Why NIST P-256? Elliptic curve cryptography vs RSA</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7</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749808"/>
          <a:ext cx="4846320" cy="3218688"/>
        </p:xfrm>
        <a:graphic>
          <a:graphicData uri="http://schemas.openxmlformats.org/drawingml/2006/table">
            <a:tbl>
              <a:tblPr/>
              <a:tblGrid>
                <a:gridCol w="16459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459943">
                <a:tc>
                  <a:txBody>
                    <a:bodyPr/>
                    <a:lstStyle/>
                    <a:p>
                      <a:pPr marL="0" indent="0" algn="ctr">
                        <a:buNone/>
                      </a:pPr>
                      <a:r>
                        <a:rPr lang="en-US" sz="1100" b="1" dirty="0">
                          <a:solidFill>
                            <a:srgbClr val="FFFFFF"/>
                          </a:solidFill>
                        </a:rPr>
                        <a:t>Property</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lgn="ctr">
                        <a:buNone/>
                      </a:pPr>
                      <a:r>
                        <a:rPr lang="en-US" sz="1100" b="1" dirty="0">
                          <a:solidFill>
                            <a:srgbClr val="FFFFFF"/>
                          </a:solidFill>
                        </a:rPr>
                        <a:t>RSA-3072</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C5C65"/>
                    </a:solidFill>
                  </a:tcPr>
                </a:tc>
                <a:tc>
                  <a:txBody>
                    <a:bodyPr/>
                    <a:lstStyle/>
                    <a:p>
                      <a:pPr marL="0" indent="0" algn="ctr">
                        <a:buNone/>
                      </a:pPr>
                      <a:r>
                        <a:rPr lang="en-US" sz="1100" b="1" dirty="0">
                          <a:solidFill>
                            <a:srgbClr val="FFFFFF"/>
                          </a:solidFill>
                        </a:rPr>
                        <a:t>ECC P-256  ✓</a:t>
                      </a:r>
                      <a:endParaRPr lang="en-US" sz="11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D9E75"/>
                    </a:solidFill>
                  </a:tcPr>
                </a:tc>
                <a:extLst>
                  <a:ext uri="{0D108BD9-81ED-4DB2-BD59-A6C34878D82A}">
                    <a16:rowId xmlns:a16="http://schemas.microsoft.com/office/drawing/2014/main" val="10000"/>
                  </a:ext>
                </a:extLst>
              </a:tr>
              <a:tr h="459943">
                <a:tc>
                  <a:txBody>
                    <a:bodyPr/>
                    <a:lstStyle/>
                    <a:p>
                      <a:pPr marL="0" indent="0">
                        <a:buNone/>
                      </a:pPr>
                      <a:r>
                        <a:rPr lang="en-US" sz="1050" b="1" dirty="0">
                          <a:solidFill>
                            <a:srgbClr val="0A1628"/>
                          </a:solidFill>
                        </a:rPr>
                        <a:t>Key size</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3,072 bits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b="1" dirty="0">
                          <a:solidFill>
                            <a:srgbClr val="065F46"/>
                          </a:solidFill>
                        </a:rPr>
                        <a:t>256 bits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1"/>
                  </a:ext>
                </a:extLst>
              </a:tr>
              <a:tr h="459943">
                <a:tc>
                  <a:txBody>
                    <a:bodyPr/>
                    <a:lstStyle/>
                    <a:p>
                      <a:pPr marL="0" indent="0">
                        <a:buNone/>
                      </a:pPr>
                      <a:r>
                        <a:rPr lang="en-US" sz="1050" b="1" dirty="0">
                          <a:solidFill>
                            <a:srgbClr val="0A1628"/>
                          </a:solidFill>
                        </a:rPr>
                        <a:t>Security level</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128-bit</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b="1" dirty="0">
                          <a:solidFill>
                            <a:srgbClr val="065F46"/>
                          </a:solidFill>
                        </a:rPr>
                        <a:t>128-bit</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2"/>
                  </a:ext>
                </a:extLst>
              </a:tr>
              <a:tr h="459943">
                <a:tc>
                  <a:txBody>
                    <a:bodyPr/>
                    <a:lstStyle/>
                    <a:p>
                      <a:pPr marL="0" indent="0">
                        <a:buNone/>
                      </a:pPr>
                      <a:r>
                        <a:rPr lang="en-US" sz="1050" b="1" dirty="0">
                          <a:solidFill>
                            <a:srgbClr val="0A1628"/>
                          </a:solidFill>
                        </a:rPr>
                        <a:t>Core operation</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Modular exponentiation</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b="1" dirty="0">
                          <a:solidFill>
                            <a:srgbClr val="065F46"/>
                          </a:solidFill>
                        </a:rPr>
                        <a:t>Scalar multiplication</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3"/>
                  </a:ext>
                </a:extLst>
              </a:tr>
              <a:tr h="459943">
                <a:tc>
                  <a:txBody>
                    <a:bodyPr/>
                    <a:lstStyle/>
                    <a:p>
                      <a:pPr marL="0" indent="0">
                        <a:buNone/>
                      </a:pPr>
                      <a:r>
                        <a:rPr lang="en-US" sz="1050" b="1" dirty="0">
                          <a:solidFill>
                            <a:srgbClr val="0A1628"/>
                          </a:solidFill>
                        </a:rPr>
                        <a:t>Relative speed</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1× baseline</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b="1" dirty="0">
                          <a:solidFill>
                            <a:srgbClr val="065F46"/>
                          </a:solidFill>
                        </a:rPr>
                        <a:t>~7× faster</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4"/>
                  </a:ext>
                </a:extLst>
              </a:tr>
              <a:tr h="459943">
                <a:tc>
                  <a:txBody>
                    <a:bodyPr/>
                    <a:lstStyle/>
                    <a:p>
                      <a:pPr marL="0" indent="0">
                        <a:buNone/>
                      </a:pPr>
                      <a:r>
                        <a:rPr lang="en-US" sz="1050" b="1" dirty="0">
                          <a:solidFill>
                            <a:srgbClr val="0A1628"/>
                          </a:solidFill>
                        </a:rPr>
                        <a:t>Data per element</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~384 bytes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b="1" dirty="0">
                          <a:solidFill>
                            <a:srgbClr val="065F46"/>
                          </a:solidFill>
                        </a:rPr>
                        <a:t>65 bytes</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5"/>
                  </a:ext>
                </a:extLst>
              </a:tr>
              <a:tr h="459943">
                <a:tc>
                  <a:txBody>
                    <a:bodyPr/>
                    <a:lstStyle/>
                    <a:p>
                      <a:pPr marL="0" indent="0">
                        <a:buNone/>
                      </a:pPr>
                      <a:r>
                        <a:rPr lang="en-US" sz="1050" b="1" dirty="0">
                          <a:solidFill>
                            <a:srgbClr val="0A1628"/>
                          </a:solidFill>
                        </a:rPr>
                        <a:t>Mobile suitability</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334155"/>
                          </a:solidFill>
                        </a:rPr>
                        <a:t>Limited</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b="1" dirty="0">
                          <a:solidFill>
                            <a:srgbClr val="065F46"/>
                          </a:solidFill>
                        </a:rPr>
                        <a:t>Excellent</a:t>
                      </a:r>
                      <a:endParaRPr lang="en-US" sz="10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extLst>
                  <a:ext uri="{0D108BD9-81ED-4DB2-BD59-A6C34878D82A}">
                    <a16:rowId xmlns:a16="http://schemas.microsoft.com/office/drawing/2014/main" val="10006"/>
                  </a:ext>
                </a:extLst>
              </a:tr>
            </a:tbl>
          </a:graphicData>
        </a:graphic>
      </p:graphicFrame>
      <p:graphicFrame>
        <p:nvGraphicFramePr>
          <p:cNvPr id="7" name="Chart 0"/>
          <p:cNvGraphicFramePr/>
          <p:nvPr/>
        </p:nvGraphicFramePr>
        <p:xfrm>
          <a:off x="5303520" y="749808"/>
          <a:ext cx="3566160" cy="321868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4"/>
          <p:cNvSpPr/>
          <p:nvPr/>
        </p:nvSpPr>
        <p:spPr>
          <a:xfrm>
            <a:off x="274320" y="4169664"/>
            <a:ext cx="8595360" cy="502920"/>
          </a:xfrm>
          <a:prstGeom prst="rect">
            <a:avLst/>
          </a:prstGeom>
          <a:solidFill>
            <a:srgbClr val="FEF3C7"/>
          </a:solidFill>
          <a:ln w="19050">
            <a:solidFill>
              <a:srgbClr val="EF9F27"/>
            </a:solidFill>
            <a:prstDash val="solid"/>
          </a:ln>
        </p:spPr>
      </p:sp>
      <p:sp>
        <p:nvSpPr>
          <p:cNvPr id="9" name="Text 5"/>
          <p:cNvSpPr/>
          <p:nvPr/>
        </p:nvSpPr>
        <p:spPr>
          <a:xfrm>
            <a:off x="411480" y="4169664"/>
            <a:ext cx="8321040" cy="502920"/>
          </a:xfrm>
          <a:prstGeom prst="rect">
            <a:avLst/>
          </a:prstGeom>
          <a:noFill/>
          <a:ln/>
        </p:spPr>
        <p:txBody>
          <a:bodyPr wrap="square" rtlCol="0" anchor="ctr"/>
          <a:lstStyle/>
          <a:p>
            <a:pPr marL="0" indent="0">
              <a:buNone/>
            </a:pPr>
            <a:r>
              <a:rPr lang="en-US" sz="1150" i="1" dirty="0">
                <a:solidFill>
                  <a:srgbClr val="92400E"/>
                </a:solidFill>
              </a:rPr>
              <a:t>A 256-bit ECC key provides the same 128-bit security as a 3,072-bit RSA key — at a fraction of the computational and bandwidth cost.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Python prototype — implementation parameters</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8</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49808"/>
            <a:ext cx="2048256" cy="1188720"/>
          </a:xfrm>
          <a:prstGeom prst="rect">
            <a:avLst/>
          </a:prstGeom>
          <a:solidFill>
            <a:srgbClr val="FFFFFF"/>
          </a:solidFill>
          <a:ln w="12700">
            <a:solidFill>
              <a:srgbClr val="E2E8F0"/>
            </a:solidFill>
            <a:prstDash val="solid"/>
          </a:ln>
        </p:spPr>
      </p:sp>
      <p:sp>
        <p:nvSpPr>
          <p:cNvPr id="7" name="Shape 5"/>
          <p:cNvSpPr/>
          <p:nvPr/>
        </p:nvSpPr>
        <p:spPr>
          <a:xfrm>
            <a:off x="274320" y="749808"/>
            <a:ext cx="2048256" cy="64008"/>
          </a:xfrm>
          <a:prstGeom prst="rect">
            <a:avLst/>
          </a:prstGeom>
          <a:solidFill>
            <a:srgbClr val="1D9E75"/>
          </a:solidFill>
          <a:ln w="12700">
            <a:solidFill>
              <a:srgbClr val="1D9E75"/>
            </a:solidFill>
            <a:prstDash val="solid"/>
          </a:ln>
        </p:spPr>
      </p:sp>
      <p:sp>
        <p:nvSpPr>
          <p:cNvPr id="8" name="Text 6"/>
          <p:cNvSpPr/>
          <p:nvPr/>
        </p:nvSpPr>
        <p:spPr>
          <a:xfrm>
            <a:off x="365760" y="841248"/>
            <a:ext cx="1865376" cy="310896"/>
          </a:xfrm>
          <a:prstGeom prst="rect">
            <a:avLst/>
          </a:prstGeom>
          <a:noFill/>
          <a:ln/>
        </p:spPr>
        <p:txBody>
          <a:bodyPr wrap="square" rtlCol="0" anchor="ctr"/>
          <a:lstStyle/>
          <a:p>
            <a:pPr marL="0" indent="0">
              <a:buNone/>
            </a:pPr>
            <a:r>
              <a:rPr lang="en-US" sz="1000" b="1" dirty="0">
                <a:solidFill>
                  <a:srgbClr val="0A1628"/>
                </a:solidFill>
              </a:rPr>
              <a:t>Elliptic curve</a:t>
            </a:r>
            <a:endParaRPr lang="en-US" sz="1000" dirty="0"/>
          </a:p>
        </p:txBody>
      </p:sp>
      <p:sp>
        <p:nvSpPr>
          <p:cNvPr id="9" name="Text 7"/>
          <p:cNvSpPr/>
          <p:nvPr/>
        </p:nvSpPr>
        <p:spPr>
          <a:xfrm>
            <a:off x="365760" y="1152144"/>
            <a:ext cx="1865376" cy="713232"/>
          </a:xfrm>
          <a:prstGeom prst="rect">
            <a:avLst/>
          </a:prstGeom>
          <a:noFill/>
          <a:ln/>
        </p:spPr>
        <p:txBody>
          <a:bodyPr wrap="square" rtlCol="0" anchor="t"/>
          <a:lstStyle/>
          <a:p>
            <a:pPr marL="0" indent="0">
              <a:buNone/>
            </a:pPr>
            <a:r>
              <a:rPr lang="en-US" sz="950" dirty="0">
                <a:solidFill>
                  <a:srgbClr val="334155"/>
                </a:solidFill>
              </a:rPr>
              <a:t>NIST P-256 (secp256r1)</a:t>
            </a:r>
            <a:endParaRPr lang="en-US" sz="950" dirty="0"/>
          </a:p>
        </p:txBody>
      </p:sp>
      <p:sp>
        <p:nvSpPr>
          <p:cNvPr id="10" name="Shape 8"/>
          <p:cNvSpPr/>
          <p:nvPr/>
        </p:nvSpPr>
        <p:spPr>
          <a:xfrm>
            <a:off x="2432304" y="749808"/>
            <a:ext cx="2048256" cy="1188720"/>
          </a:xfrm>
          <a:prstGeom prst="rect">
            <a:avLst/>
          </a:prstGeom>
          <a:solidFill>
            <a:srgbClr val="FFFFFF"/>
          </a:solidFill>
          <a:ln w="12700">
            <a:solidFill>
              <a:srgbClr val="E2E8F0"/>
            </a:solidFill>
            <a:prstDash val="solid"/>
          </a:ln>
        </p:spPr>
      </p:sp>
      <p:sp>
        <p:nvSpPr>
          <p:cNvPr id="11" name="Shape 9"/>
          <p:cNvSpPr/>
          <p:nvPr/>
        </p:nvSpPr>
        <p:spPr>
          <a:xfrm>
            <a:off x="2432304" y="749808"/>
            <a:ext cx="2048256" cy="64008"/>
          </a:xfrm>
          <a:prstGeom prst="rect">
            <a:avLst/>
          </a:prstGeom>
          <a:solidFill>
            <a:srgbClr val="1D9E75"/>
          </a:solidFill>
          <a:ln w="12700">
            <a:solidFill>
              <a:srgbClr val="1D9E75"/>
            </a:solidFill>
            <a:prstDash val="solid"/>
          </a:ln>
        </p:spPr>
      </p:sp>
      <p:sp>
        <p:nvSpPr>
          <p:cNvPr id="12" name="Text 10"/>
          <p:cNvSpPr/>
          <p:nvPr/>
        </p:nvSpPr>
        <p:spPr>
          <a:xfrm>
            <a:off x="2523744" y="841248"/>
            <a:ext cx="1865376" cy="310896"/>
          </a:xfrm>
          <a:prstGeom prst="rect">
            <a:avLst/>
          </a:prstGeom>
          <a:noFill/>
          <a:ln/>
        </p:spPr>
        <p:txBody>
          <a:bodyPr wrap="square" rtlCol="0" anchor="ctr"/>
          <a:lstStyle/>
          <a:p>
            <a:pPr marL="0" indent="0">
              <a:buNone/>
            </a:pPr>
            <a:r>
              <a:rPr lang="en-US" sz="1000" b="1" dirty="0">
                <a:solidFill>
                  <a:srgbClr val="0A1628"/>
                </a:solidFill>
              </a:rPr>
              <a:t>Hash function</a:t>
            </a:r>
            <a:endParaRPr lang="en-US" sz="1000" dirty="0"/>
          </a:p>
        </p:txBody>
      </p:sp>
      <p:sp>
        <p:nvSpPr>
          <p:cNvPr id="13" name="Text 11"/>
          <p:cNvSpPr/>
          <p:nvPr/>
        </p:nvSpPr>
        <p:spPr>
          <a:xfrm>
            <a:off x="2523744" y="1152144"/>
            <a:ext cx="1865376" cy="713232"/>
          </a:xfrm>
          <a:prstGeom prst="rect">
            <a:avLst/>
          </a:prstGeom>
          <a:noFill/>
          <a:ln/>
        </p:spPr>
        <p:txBody>
          <a:bodyPr wrap="square" rtlCol="0" anchor="t"/>
          <a:lstStyle/>
          <a:p>
            <a:pPr marL="0" indent="0">
              <a:buNone/>
            </a:pPr>
            <a:r>
              <a:rPr lang="en-US" sz="950" dirty="0">
                <a:solidFill>
                  <a:srgbClr val="334155"/>
                </a:solidFill>
              </a:rPr>
              <a:t>SHA-256</a:t>
            </a:r>
            <a:endParaRPr lang="en-US" sz="950" dirty="0"/>
          </a:p>
          <a:p>
            <a:pPr marL="0" indent="0">
              <a:buNone/>
            </a:pPr>
            <a:r>
              <a:rPr lang="en-US" sz="950" dirty="0">
                <a:solidFill>
                  <a:srgbClr val="334155"/>
                </a:solidFill>
              </a:rPr>
              <a:t>(256-bit output)</a:t>
            </a:r>
            <a:endParaRPr lang="en-US" sz="950" dirty="0"/>
          </a:p>
        </p:txBody>
      </p:sp>
      <p:sp>
        <p:nvSpPr>
          <p:cNvPr id="14" name="Shape 12"/>
          <p:cNvSpPr/>
          <p:nvPr/>
        </p:nvSpPr>
        <p:spPr>
          <a:xfrm>
            <a:off x="4590288" y="749808"/>
            <a:ext cx="2048256" cy="1188720"/>
          </a:xfrm>
          <a:prstGeom prst="rect">
            <a:avLst/>
          </a:prstGeom>
          <a:solidFill>
            <a:srgbClr val="FFFFFF"/>
          </a:solidFill>
          <a:ln w="12700">
            <a:solidFill>
              <a:srgbClr val="E2E8F0"/>
            </a:solidFill>
            <a:prstDash val="solid"/>
          </a:ln>
        </p:spPr>
      </p:sp>
      <p:sp>
        <p:nvSpPr>
          <p:cNvPr id="15" name="Shape 13"/>
          <p:cNvSpPr/>
          <p:nvPr/>
        </p:nvSpPr>
        <p:spPr>
          <a:xfrm>
            <a:off x="4590288" y="749808"/>
            <a:ext cx="2048256" cy="64008"/>
          </a:xfrm>
          <a:prstGeom prst="rect">
            <a:avLst/>
          </a:prstGeom>
          <a:solidFill>
            <a:srgbClr val="1D9E75"/>
          </a:solidFill>
          <a:ln w="12700">
            <a:solidFill>
              <a:srgbClr val="1D9E75"/>
            </a:solidFill>
            <a:prstDash val="solid"/>
          </a:ln>
        </p:spPr>
      </p:sp>
      <p:sp>
        <p:nvSpPr>
          <p:cNvPr id="16" name="Text 14"/>
          <p:cNvSpPr/>
          <p:nvPr/>
        </p:nvSpPr>
        <p:spPr>
          <a:xfrm>
            <a:off x="4681728" y="841248"/>
            <a:ext cx="1865376" cy="310896"/>
          </a:xfrm>
          <a:prstGeom prst="rect">
            <a:avLst/>
          </a:prstGeom>
          <a:noFill/>
          <a:ln/>
        </p:spPr>
        <p:txBody>
          <a:bodyPr wrap="square" rtlCol="0" anchor="ctr"/>
          <a:lstStyle/>
          <a:p>
            <a:pPr marL="0" indent="0">
              <a:buNone/>
            </a:pPr>
            <a:r>
              <a:rPr lang="en-US" sz="1000" b="1" dirty="0">
                <a:solidFill>
                  <a:srgbClr val="0A1628"/>
                </a:solidFill>
              </a:rPr>
              <a:t>Key size</a:t>
            </a:r>
            <a:endParaRPr lang="en-US" sz="1000" dirty="0"/>
          </a:p>
        </p:txBody>
      </p:sp>
      <p:sp>
        <p:nvSpPr>
          <p:cNvPr id="17" name="Text 15"/>
          <p:cNvSpPr/>
          <p:nvPr/>
        </p:nvSpPr>
        <p:spPr>
          <a:xfrm>
            <a:off x="4681728" y="1152144"/>
            <a:ext cx="1865376" cy="713232"/>
          </a:xfrm>
          <a:prstGeom prst="rect">
            <a:avLst/>
          </a:prstGeom>
          <a:noFill/>
          <a:ln/>
        </p:spPr>
        <p:txBody>
          <a:bodyPr wrap="square" rtlCol="0" anchor="t"/>
          <a:lstStyle/>
          <a:p>
            <a:pPr marL="0" indent="0">
              <a:buNone/>
            </a:pPr>
            <a:r>
              <a:rPr lang="en-US" sz="950" dirty="0">
                <a:solidFill>
                  <a:srgbClr val="334155"/>
                </a:solidFill>
              </a:rPr>
              <a:t>256-bit ephemeral scalars</a:t>
            </a:r>
            <a:endParaRPr lang="en-US" sz="950" dirty="0"/>
          </a:p>
          <a:p>
            <a:pPr marL="0" indent="0">
              <a:buNone/>
            </a:pPr>
            <a:r>
              <a:rPr lang="en-US" sz="950" dirty="0">
                <a:solidFill>
                  <a:srgbClr val="334155"/>
                </a:solidFill>
              </a:rPr>
              <a:t>fresh per session</a:t>
            </a:r>
            <a:endParaRPr lang="en-US" sz="950" dirty="0"/>
          </a:p>
        </p:txBody>
      </p:sp>
      <p:sp>
        <p:nvSpPr>
          <p:cNvPr id="18" name="Shape 16"/>
          <p:cNvSpPr/>
          <p:nvPr/>
        </p:nvSpPr>
        <p:spPr>
          <a:xfrm>
            <a:off x="6748272" y="749808"/>
            <a:ext cx="2048256" cy="1188720"/>
          </a:xfrm>
          <a:prstGeom prst="rect">
            <a:avLst/>
          </a:prstGeom>
          <a:solidFill>
            <a:srgbClr val="FFFFFF"/>
          </a:solidFill>
          <a:ln w="12700">
            <a:solidFill>
              <a:srgbClr val="E2E8F0"/>
            </a:solidFill>
            <a:prstDash val="solid"/>
          </a:ln>
        </p:spPr>
      </p:sp>
      <p:sp>
        <p:nvSpPr>
          <p:cNvPr id="19" name="Shape 17"/>
          <p:cNvSpPr/>
          <p:nvPr/>
        </p:nvSpPr>
        <p:spPr>
          <a:xfrm>
            <a:off x="6748272" y="749808"/>
            <a:ext cx="2048256" cy="64008"/>
          </a:xfrm>
          <a:prstGeom prst="rect">
            <a:avLst/>
          </a:prstGeom>
          <a:solidFill>
            <a:srgbClr val="1D9E75"/>
          </a:solidFill>
          <a:ln w="12700">
            <a:solidFill>
              <a:srgbClr val="1D9E75"/>
            </a:solidFill>
            <a:prstDash val="solid"/>
          </a:ln>
        </p:spPr>
      </p:sp>
      <p:sp>
        <p:nvSpPr>
          <p:cNvPr id="20" name="Text 18"/>
          <p:cNvSpPr/>
          <p:nvPr/>
        </p:nvSpPr>
        <p:spPr>
          <a:xfrm>
            <a:off x="6839712" y="841248"/>
            <a:ext cx="1865376" cy="310896"/>
          </a:xfrm>
          <a:prstGeom prst="rect">
            <a:avLst/>
          </a:prstGeom>
          <a:noFill/>
          <a:ln/>
        </p:spPr>
        <p:txBody>
          <a:bodyPr wrap="square" rtlCol="0" anchor="ctr"/>
          <a:lstStyle/>
          <a:p>
            <a:pPr marL="0" indent="0">
              <a:buNone/>
            </a:pPr>
            <a:r>
              <a:rPr lang="en-US" sz="1000" b="1" dirty="0">
                <a:solidFill>
                  <a:srgbClr val="0A1628"/>
                </a:solidFill>
              </a:rPr>
              <a:t>Language</a:t>
            </a:r>
            <a:endParaRPr lang="en-US" sz="1000" dirty="0"/>
          </a:p>
        </p:txBody>
      </p:sp>
      <p:sp>
        <p:nvSpPr>
          <p:cNvPr id="21" name="Text 19"/>
          <p:cNvSpPr/>
          <p:nvPr/>
        </p:nvSpPr>
        <p:spPr>
          <a:xfrm>
            <a:off x="6839712" y="1152144"/>
            <a:ext cx="1865376" cy="713232"/>
          </a:xfrm>
          <a:prstGeom prst="rect">
            <a:avLst/>
          </a:prstGeom>
          <a:noFill/>
          <a:ln/>
        </p:spPr>
        <p:txBody>
          <a:bodyPr wrap="square" rtlCol="0" anchor="t"/>
          <a:lstStyle/>
          <a:p>
            <a:pPr marL="0" indent="0">
              <a:buNone/>
            </a:pPr>
            <a:r>
              <a:rPr lang="en-US" sz="950" dirty="0">
                <a:solidFill>
                  <a:srgbClr val="334155"/>
                </a:solidFill>
              </a:rPr>
              <a:t>Python 3.10</a:t>
            </a:r>
            <a:endParaRPr lang="en-US" sz="950" dirty="0"/>
          </a:p>
        </p:txBody>
      </p:sp>
      <p:sp>
        <p:nvSpPr>
          <p:cNvPr id="22" name="Shape 20"/>
          <p:cNvSpPr/>
          <p:nvPr/>
        </p:nvSpPr>
        <p:spPr>
          <a:xfrm>
            <a:off x="274320" y="2066544"/>
            <a:ext cx="2048256" cy="1188720"/>
          </a:xfrm>
          <a:prstGeom prst="rect">
            <a:avLst/>
          </a:prstGeom>
          <a:solidFill>
            <a:srgbClr val="FFFFFF"/>
          </a:solidFill>
          <a:ln w="12700">
            <a:solidFill>
              <a:srgbClr val="E2E8F0"/>
            </a:solidFill>
            <a:prstDash val="solid"/>
          </a:ln>
        </p:spPr>
      </p:sp>
      <p:sp>
        <p:nvSpPr>
          <p:cNvPr id="23" name="Shape 21"/>
          <p:cNvSpPr/>
          <p:nvPr/>
        </p:nvSpPr>
        <p:spPr>
          <a:xfrm>
            <a:off x="274320" y="2066544"/>
            <a:ext cx="2048256" cy="64008"/>
          </a:xfrm>
          <a:prstGeom prst="rect">
            <a:avLst/>
          </a:prstGeom>
          <a:solidFill>
            <a:srgbClr val="1D9E75"/>
          </a:solidFill>
          <a:ln w="12700">
            <a:solidFill>
              <a:srgbClr val="1D9E75"/>
            </a:solidFill>
            <a:prstDash val="solid"/>
          </a:ln>
        </p:spPr>
      </p:sp>
      <p:sp>
        <p:nvSpPr>
          <p:cNvPr id="24" name="Text 22"/>
          <p:cNvSpPr/>
          <p:nvPr/>
        </p:nvSpPr>
        <p:spPr>
          <a:xfrm>
            <a:off x="365760" y="2157984"/>
            <a:ext cx="1865376" cy="310896"/>
          </a:xfrm>
          <a:prstGeom prst="rect">
            <a:avLst/>
          </a:prstGeom>
          <a:noFill/>
          <a:ln/>
        </p:spPr>
        <p:txBody>
          <a:bodyPr wrap="square" rtlCol="0" anchor="ctr"/>
          <a:lstStyle/>
          <a:p>
            <a:pPr marL="0" indent="0">
              <a:buNone/>
            </a:pPr>
            <a:r>
              <a:rPr lang="en-US" sz="1000" b="1" dirty="0">
                <a:solidFill>
                  <a:srgbClr val="0A1628"/>
                </a:solidFill>
              </a:rPr>
              <a:t>ECC library</a:t>
            </a:r>
            <a:endParaRPr lang="en-US" sz="1000" dirty="0"/>
          </a:p>
        </p:txBody>
      </p:sp>
      <p:sp>
        <p:nvSpPr>
          <p:cNvPr id="25" name="Text 23"/>
          <p:cNvSpPr/>
          <p:nvPr/>
        </p:nvSpPr>
        <p:spPr>
          <a:xfrm>
            <a:off x="365760" y="2468880"/>
            <a:ext cx="1865376" cy="713232"/>
          </a:xfrm>
          <a:prstGeom prst="rect">
            <a:avLst/>
          </a:prstGeom>
          <a:noFill/>
          <a:ln/>
        </p:spPr>
        <p:txBody>
          <a:bodyPr wrap="square" rtlCol="0" anchor="t"/>
          <a:lstStyle/>
          <a:p>
            <a:pPr marL="0" indent="0">
              <a:buNone/>
            </a:pPr>
            <a:r>
              <a:rPr lang="en-US" sz="950" dirty="0">
                <a:solidFill>
                  <a:srgbClr val="334155"/>
                </a:solidFill>
              </a:rPr>
              <a:t>cryptography v41.0</a:t>
            </a:r>
            <a:endParaRPr lang="en-US" sz="950" dirty="0"/>
          </a:p>
          <a:p>
            <a:pPr marL="0" indent="0">
              <a:buNone/>
            </a:pPr>
            <a:r>
              <a:rPr lang="en-US" sz="950" dirty="0">
                <a:solidFill>
                  <a:srgbClr val="334155"/>
                </a:solidFill>
              </a:rPr>
              <a:t>OpenSSL backend</a:t>
            </a:r>
            <a:endParaRPr lang="en-US" sz="950" dirty="0"/>
          </a:p>
        </p:txBody>
      </p:sp>
      <p:sp>
        <p:nvSpPr>
          <p:cNvPr id="26" name="Shape 24"/>
          <p:cNvSpPr/>
          <p:nvPr/>
        </p:nvSpPr>
        <p:spPr>
          <a:xfrm>
            <a:off x="2432304" y="2066544"/>
            <a:ext cx="2048256" cy="1188720"/>
          </a:xfrm>
          <a:prstGeom prst="rect">
            <a:avLst/>
          </a:prstGeom>
          <a:solidFill>
            <a:srgbClr val="FFFFFF"/>
          </a:solidFill>
          <a:ln w="12700">
            <a:solidFill>
              <a:srgbClr val="E2E8F0"/>
            </a:solidFill>
            <a:prstDash val="solid"/>
          </a:ln>
        </p:spPr>
      </p:sp>
      <p:sp>
        <p:nvSpPr>
          <p:cNvPr id="27" name="Shape 25"/>
          <p:cNvSpPr/>
          <p:nvPr/>
        </p:nvSpPr>
        <p:spPr>
          <a:xfrm>
            <a:off x="2432304" y="2066544"/>
            <a:ext cx="2048256" cy="64008"/>
          </a:xfrm>
          <a:prstGeom prst="rect">
            <a:avLst/>
          </a:prstGeom>
          <a:solidFill>
            <a:srgbClr val="1D9E75"/>
          </a:solidFill>
          <a:ln w="12700">
            <a:solidFill>
              <a:srgbClr val="1D9E75"/>
            </a:solidFill>
            <a:prstDash val="solid"/>
          </a:ln>
        </p:spPr>
      </p:sp>
      <p:sp>
        <p:nvSpPr>
          <p:cNvPr id="28" name="Text 26"/>
          <p:cNvSpPr/>
          <p:nvPr/>
        </p:nvSpPr>
        <p:spPr>
          <a:xfrm>
            <a:off x="2523744" y="2157984"/>
            <a:ext cx="1865376" cy="310896"/>
          </a:xfrm>
          <a:prstGeom prst="rect">
            <a:avLst/>
          </a:prstGeom>
          <a:noFill/>
          <a:ln/>
        </p:spPr>
        <p:txBody>
          <a:bodyPr wrap="square" rtlCol="0" anchor="ctr"/>
          <a:lstStyle/>
          <a:p>
            <a:pPr marL="0" indent="0">
              <a:buNone/>
            </a:pPr>
            <a:r>
              <a:rPr lang="en-US" sz="1000" b="1" dirty="0">
                <a:solidFill>
                  <a:srgbClr val="0A1628"/>
                </a:solidFill>
              </a:rPr>
              <a:t>Random number gen.</a:t>
            </a:r>
            <a:endParaRPr lang="en-US" sz="1000" dirty="0"/>
          </a:p>
        </p:txBody>
      </p:sp>
      <p:sp>
        <p:nvSpPr>
          <p:cNvPr id="29" name="Text 27"/>
          <p:cNvSpPr/>
          <p:nvPr/>
        </p:nvSpPr>
        <p:spPr>
          <a:xfrm>
            <a:off x="2523744" y="2468880"/>
            <a:ext cx="1865376" cy="713232"/>
          </a:xfrm>
          <a:prstGeom prst="rect">
            <a:avLst/>
          </a:prstGeom>
          <a:noFill/>
          <a:ln/>
        </p:spPr>
        <p:txBody>
          <a:bodyPr wrap="square" rtlCol="0" anchor="t"/>
          <a:lstStyle/>
          <a:p>
            <a:pPr marL="0" indent="0">
              <a:buNone/>
            </a:pPr>
            <a:r>
              <a:rPr lang="en-US" sz="950" dirty="0">
                <a:solidFill>
                  <a:srgbClr val="334155"/>
                </a:solidFill>
              </a:rPr>
              <a:t>os.urandom()</a:t>
            </a:r>
            <a:endParaRPr lang="en-US" sz="950" dirty="0"/>
          </a:p>
          <a:p>
            <a:pPr marL="0" indent="0">
              <a:buNone/>
            </a:pPr>
            <a:r>
              <a:rPr lang="en-US" sz="950" dirty="0">
                <a:solidFill>
                  <a:srgbClr val="334155"/>
                </a:solidFill>
              </a:rPr>
              <a:t>cryptographically secure</a:t>
            </a:r>
            <a:endParaRPr lang="en-US" sz="950" dirty="0"/>
          </a:p>
        </p:txBody>
      </p:sp>
      <p:sp>
        <p:nvSpPr>
          <p:cNvPr id="30" name="Shape 28"/>
          <p:cNvSpPr/>
          <p:nvPr/>
        </p:nvSpPr>
        <p:spPr>
          <a:xfrm>
            <a:off x="4590288" y="2066544"/>
            <a:ext cx="2048256" cy="1188720"/>
          </a:xfrm>
          <a:prstGeom prst="rect">
            <a:avLst/>
          </a:prstGeom>
          <a:solidFill>
            <a:srgbClr val="FFFFFF"/>
          </a:solidFill>
          <a:ln w="12700">
            <a:solidFill>
              <a:srgbClr val="E2E8F0"/>
            </a:solidFill>
            <a:prstDash val="solid"/>
          </a:ln>
        </p:spPr>
      </p:sp>
      <p:sp>
        <p:nvSpPr>
          <p:cNvPr id="31" name="Shape 29"/>
          <p:cNvSpPr/>
          <p:nvPr/>
        </p:nvSpPr>
        <p:spPr>
          <a:xfrm>
            <a:off x="4590288" y="2066544"/>
            <a:ext cx="2048256" cy="64008"/>
          </a:xfrm>
          <a:prstGeom prst="rect">
            <a:avLst/>
          </a:prstGeom>
          <a:solidFill>
            <a:srgbClr val="1D9E75"/>
          </a:solidFill>
          <a:ln w="12700">
            <a:solidFill>
              <a:srgbClr val="1D9E75"/>
            </a:solidFill>
            <a:prstDash val="solid"/>
          </a:ln>
        </p:spPr>
      </p:sp>
      <p:sp>
        <p:nvSpPr>
          <p:cNvPr id="32" name="Text 30"/>
          <p:cNvSpPr/>
          <p:nvPr/>
        </p:nvSpPr>
        <p:spPr>
          <a:xfrm>
            <a:off x="4681728" y="2157984"/>
            <a:ext cx="1865376" cy="310896"/>
          </a:xfrm>
          <a:prstGeom prst="rect">
            <a:avLst/>
          </a:prstGeom>
          <a:noFill/>
          <a:ln/>
        </p:spPr>
        <p:txBody>
          <a:bodyPr wrap="square" rtlCol="0" anchor="ctr"/>
          <a:lstStyle/>
          <a:p>
            <a:pPr marL="0" indent="0">
              <a:buNone/>
            </a:pPr>
            <a:r>
              <a:rPr lang="en-US" sz="1000" b="1" dirty="0">
                <a:solidFill>
                  <a:srgbClr val="0A1628"/>
                </a:solidFill>
              </a:rPr>
              <a:t>Point format</a:t>
            </a:r>
            <a:endParaRPr lang="en-US" sz="1000" dirty="0"/>
          </a:p>
        </p:txBody>
      </p:sp>
      <p:sp>
        <p:nvSpPr>
          <p:cNvPr id="33" name="Text 31"/>
          <p:cNvSpPr/>
          <p:nvPr/>
        </p:nvSpPr>
        <p:spPr>
          <a:xfrm>
            <a:off x="4681728" y="2468880"/>
            <a:ext cx="1865376" cy="713232"/>
          </a:xfrm>
          <a:prstGeom prst="rect">
            <a:avLst/>
          </a:prstGeom>
          <a:noFill/>
          <a:ln/>
        </p:spPr>
        <p:txBody>
          <a:bodyPr wrap="square" rtlCol="0" anchor="t"/>
          <a:lstStyle/>
          <a:p>
            <a:pPr marL="0" indent="0">
              <a:buNone/>
            </a:pPr>
            <a:r>
              <a:rPr lang="en-US" sz="950" dirty="0">
                <a:solidFill>
                  <a:srgbClr val="334155"/>
                </a:solidFill>
              </a:rPr>
              <a:t>Uncompressed</a:t>
            </a:r>
            <a:endParaRPr lang="en-US" sz="950" dirty="0"/>
          </a:p>
          <a:p>
            <a:pPr marL="0" indent="0">
              <a:buNone/>
            </a:pPr>
            <a:r>
              <a:rPr lang="en-US" sz="950" dirty="0">
                <a:solidFill>
                  <a:srgbClr val="334155"/>
                </a:solidFill>
              </a:rPr>
              <a:t>65 bytes per point</a:t>
            </a:r>
            <a:endParaRPr lang="en-US" sz="950" dirty="0"/>
          </a:p>
        </p:txBody>
      </p:sp>
      <p:sp>
        <p:nvSpPr>
          <p:cNvPr id="34" name="Shape 32"/>
          <p:cNvSpPr/>
          <p:nvPr/>
        </p:nvSpPr>
        <p:spPr>
          <a:xfrm>
            <a:off x="6748272" y="2066544"/>
            <a:ext cx="2048256" cy="1188720"/>
          </a:xfrm>
          <a:prstGeom prst="rect">
            <a:avLst/>
          </a:prstGeom>
          <a:solidFill>
            <a:srgbClr val="FFFFFF"/>
          </a:solidFill>
          <a:ln w="12700">
            <a:solidFill>
              <a:srgbClr val="E2E8F0"/>
            </a:solidFill>
            <a:prstDash val="solid"/>
          </a:ln>
        </p:spPr>
      </p:sp>
      <p:sp>
        <p:nvSpPr>
          <p:cNvPr id="35" name="Shape 33"/>
          <p:cNvSpPr/>
          <p:nvPr/>
        </p:nvSpPr>
        <p:spPr>
          <a:xfrm>
            <a:off x="6748272" y="2066544"/>
            <a:ext cx="2048256" cy="64008"/>
          </a:xfrm>
          <a:prstGeom prst="rect">
            <a:avLst/>
          </a:prstGeom>
          <a:solidFill>
            <a:srgbClr val="1D9E75"/>
          </a:solidFill>
          <a:ln w="12700">
            <a:solidFill>
              <a:srgbClr val="1D9E75"/>
            </a:solidFill>
            <a:prstDash val="solid"/>
          </a:ln>
        </p:spPr>
      </p:sp>
      <p:sp>
        <p:nvSpPr>
          <p:cNvPr id="36" name="Text 34"/>
          <p:cNvSpPr/>
          <p:nvPr/>
        </p:nvSpPr>
        <p:spPr>
          <a:xfrm>
            <a:off x="6839712" y="2157984"/>
            <a:ext cx="1865376" cy="310896"/>
          </a:xfrm>
          <a:prstGeom prst="rect">
            <a:avLst/>
          </a:prstGeom>
          <a:noFill/>
          <a:ln/>
        </p:spPr>
        <p:txBody>
          <a:bodyPr wrap="square" rtlCol="0" anchor="ctr"/>
          <a:lstStyle/>
          <a:p>
            <a:pPr marL="0" indent="0">
              <a:buNone/>
            </a:pPr>
            <a:r>
              <a:rPr lang="en-US" sz="1000" b="1" dirty="0">
                <a:solidFill>
                  <a:srgbClr val="0A1628"/>
                </a:solidFill>
              </a:rPr>
              <a:t>Hardware</a:t>
            </a:r>
            <a:endParaRPr lang="en-US" sz="1000" dirty="0"/>
          </a:p>
        </p:txBody>
      </p:sp>
      <p:sp>
        <p:nvSpPr>
          <p:cNvPr id="37" name="Text 35"/>
          <p:cNvSpPr/>
          <p:nvPr/>
        </p:nvSpPr>
        <p:spPr>
          <a:xfrm>
            <a:off x="6839712" y="2468880"/>
            <a:ext cx="1865376" cy="713232"/>
          </a:xfrm>
          <a:prstGeom prst="rect">
            <a:avLst/>
          </a:prstGeom>
          <a:noFill/>
          <a:ln/>
        </p:spPr>
        <p:txBody>
          <a:bodyPr wrap="square" rtlCol="0" anchor="t"/>
          <a:lstStyle/>
          <a:p>
            <a:pPr marL="0" indent="0">
              <a:buNone/>
            </a:pPr>
            <a:r>
              <a:rPr lang="en-US" sz="950" dirty="0">
                <a:solidFill>
                  <a:srgbClr val="334155"/>
                </a:solidFill>
              </a:rPr>
              <a:t>Intel Core i7-12700H</a:t>
            </a:r>
            <a:endParaRPr lang="en-US" sz="950" dirty="0"/>
          </a:p>
          <a:p>
            <a:pPr marL="0" indent="0">
              <a:buNone/>
            </a:pPr>
            <a:r>
              <a:rPr lang="en-US" sz="950" dirty="0">
                <a:solidFill>
                  <a:srgbClr val="334155"/>
                </a:solidFill>
              </a:rPr>
              <a:t>2.30 GHz, 16 GB DDR5</a:t>
            </a:r>
            <a:endParaRPr lang="en-US" sz="950" dirty="0"/>
          </a:p>
        </p:txBody>
      </p:sp>
      <p:sp>
        <p:nvSpPr>
          <p:cNvPr id="38" name="Shape 36"/>
          <p:cNvSpPr/>
          <p:nvPr/>
        </p:nvSpPr>
        <p:spPr>
          <a:xfrm>
            <a:off x="274320" y="3913632"/>
            <a:ext cx="8595360" cy="54864"/>
          </a:xfrm>
          <a:prstGeom prst="rect">
            <a:avLst/>
          </a:prstGeom>
          <a:solidFill>
            <a:srgbClr val="CBD5E1"/>
          </a:solidFill>
          <a:ln w="12700">
            <a:solidFill>
              <a:srgbClr val="CBD5E1"/>
            </a:solidFill>
            <a:prstDash val="solid"/>
          </a:ln>
        </p:spPr>
      </p:sp>
      <p:sp>
        <p:nvSpPr>
          <p:cNvPr id="39" name="Shape 37"/>
          <p:cNvSpPr/>
          <p:nvPr/>
        </p:nvSpPr>
        <p:spPr>
          <a:xfrm>
            <a:off x="274320" y="4050792"/>
            <a:ext cx="2080260" cy="868680"/>
          </a:xfrm>
          <a:prstGeom prst="rect">
            <a:avLst/>
          </a:prstGeom>
          <a:solidFill>
            <a:srgbClr val="F0F9FF"/>
          </a:solidFill>
          <a:ln w="12700">
            <a:solidFill>
              <a:srgbClr val="BAE6FD"/>
            </a:solidFill>
            <a:prstDash val="solid"/>
          </a:ln>
        </p:spPr>
      </p:sp>
      <p:sp>
        <p:nvSpPr>
          <p:cNvPr id="40" name="Text 38"/>
          <p:cNvSpPr/>
          <p:nvPr/>
        </p:nvSpPr>
        <p:spPr>
          <a:xfrm>
            <a:off x="2354580" y="4187952"/>
            <a:ext cx="91440" cy="548640"/>
          </a:xfrm>
          <a:prstGeom prst="rect">
            <a:avLst/>
          </a:prstGeom>
          <a:noFill/>
          <a:ln/>
        </p:spPr>
        <p:txBody>
          <a:bodyPr wrap="square" rtlCol="0" anchor="ctr"/>
          <a:lstStyle/>
          <a:p>
            <a:pPr marL="0" indent="0" algn="ctr">
              <a:buNone/>
            </a:pPr>
            <a:r>
              <a:rPr lang="en-US" sz="1200" dirty="0">
                <a:solidFill>
                  <a:srgbClr val="1D9E75"/>
                </a:solidFill>
              </a:rPr>
              <a:t>→</a:t>
            </a:r>
            <a:endParaRPr lang="en-US" sz="1200" dirty="0"/>
          </a:p>
        </p:txBody>
      </p:sp>
      <p:sp>
        <p:nvSpPr>
          <p:cNvPr id="41" name="Text 39"/>
          <p:cNvSpPr/>
          <p:nvPr/>
        </p:nvSpPr>
        <p:spPr>
          <a:xfrm>
            <a:off x="347472" y="4078224"/>
            <a:ext cx="1933956" cy="274320"/>
          </a:xfrm>
          <a:prstGeom prst="rect">
            <a:avLst/>
          </a:prstGeom>
          <a:noFill/>
          <a:ln/>
        </p:spPr>
        <p:txBody>
          <a:bodyPr wrap="square" rtlCol="0" anchor="ctr"/>
          <a:lstStyle/>
          <a:p>
            <a:pPr marL="0" indent="0" algn="ctr">
              <a:buNone/>
            </a:pPr>
            <a:r>
              <a:rPr lang="en-US" sz="950" b="1" dirty="0">
                <a:solidFill>
                  <a:srgbClr val="0369A1"/>
                </a:solidFill>
              </a:rPr>
              <a:t>Preprocessing</a:t>
            </a:r>
            <a:endParaRPr lang="en-US" sz="950" dirty="0"/>
          </a:p>
        </p:txBody>
      </p:sp>
      <p:sp>
        <p:nvSpPr>
          <p:cNvPr id="42" name="Text 40"/>
          <p:cNvSpPr/>
          <p:nvPr/>
        </p:nvSpPr>
        <p:spPr>
          <a:xfrm>
            <a:off x="347472" y="4361688"/>
            <a:ext cx="1933956" cy="530352"/>
          </a:xfrm>
          <a:prstGeom prst="rect">
            <a:avLst/>
          </a:prstGeom>
          <a:noFill/>
          <a:ln/>
        </p:spPr>
        <p:txBody>
          <a:bodyPr wrap="square" rtlCol="0" anchor="ctr"/>
          <a:lstStyle/>
          <a:p>
            <a:pPr marL="0" indent="0" algn="ctr">
              <a:buNone/>
            </a:pPr>
            <a:r>
              <a:rPr lang="en-US" sz="850" dirty="0">
                <a:solidFill>
                  <a:srgbClr val="334155"/>
                </a:solidFill>
              </a:rPr>
              <a:t>E.164 normalization</a:t>
            </a:r>
            <a:endParaRPr lang="en-US" sz="850" dirty="0"/>
          </a:p>
          <a:p>
            <a:pPr marL="0" indent="0" algn="ctr">
              <a:buNone/>
            </a:pPr>
            <a:r>
              <a:rPr lang="en-US" sz="850" dirty="0">
                <a:solidFill>
                  <a:srgbClr val="334155"/>
                </a:solidFill>
              </a:rPr>
              <a:t>&amp; SHA-256 hashing</a:t>
            </a:r>
            <a:endParaRPr lang="en-US" sz="850" dirty="0"/>
          </a:p>
        </p:txBody>
      </p:sp>
      <p:sp>
        <p:nvSpPr>
          <p:cNvPr id="43" name="Shape 41"/>
          <p:cNvSpPr/>
          <p:nvPr/>
        </p:nvSpPr>
        <p:spPr>
          <a:xfrm>
            <a:off x="2446020" y="4050792"/>
            <a:ext cx="2080260" cy="868680"/>
          </a:xfrm>
          <a:prstGeom prst="rect">
            <a:avLst/>
          </a:prstGeom>
          <a:solidFill>
            <a:srgbClr val="F0F9FF"/>
          </a:solidFill>
          <a:ln w="12700">
            <a:solidFill>
              <a:srgbClr val="BAE6FD"/>
            </a:solidFill>
            <a:prstDash val="solid"/>
          </a:ln>
        </p:spPr>
      </p:sp>
      <p:sp>
        <p:nvSpPr>
          <p:cNvPr id="44" name="Text 42"/>
          <p:cNvSpPr/>
          <p:nvPr/>
        </p:nvSpPr>
        <p:spPr>
          <a:xfrm>
            <a:off x="4526280" y="4187952"/>
            <a:ext cx="91440" cy="548640"/>
          </a:xfrm>
          <a:prstGeom prst="rect">
            <a:avLst/>
          </a:prstGeom>
          <a:noFill/>
          <a:ln/>
        </p:spPr>
        <p:txBody>
          <a:bodyPr wrap="square" rtlCol="0" anchor="ctr"/>
          <a:lstStyle/>
          <a:p>
            <a:pPr marL="0" indent="0" algn="ctr">
              <a:buNone/>
            </a:pPr>
            <a:r>
              <a:rPr lang="en-US" sz="1200" dirty="0">
                <a:solidFill>
                  <a:srgbClr val="1D9E75"/>
                </a:solidFill>
              </a:rPr>
              <a:t>→</a:t>
            </a:r>
            <a:endParaRPr lang="en-US" sz="1200" dirty="0"/>
          </a:p>
        </p:txBody>
      </p:sp>
      <p:sp>
        <p:nvSpPr>
          <p:cNvPr id="45" name="Text 43"/>
          <p:cNvSpPr/>
          <p:nvPr/>
        </p:nvSpPr>
        <p:spPr>
          <a:xfrm>
            <a:off x="2519172" y="4078224"/>
            <a:ext cx="1933956" cy="274320"/>
          </a:xfrm>
          <a:prstGeom prst="rect">
            <a:avLst/>
          </a:prstGeom>
          <a:noFill/>
          <a:ln/>
        </p:spPr>
        <p:txBody>
          <a:bodyPr wrap="square" rtlCol="0" anchor="ctr"/>
          <a:lstStyle/>
          <a:p>
            <a:pPr marL="0" indent="0" algn="ctr">
              <a:buNone/>
            </a:pPr>
            <a:r>
              <a:rPr lang="en-US" sz="950" b="1" dirty="0">
                <a:solidFill>
                  <a:srgbClr val="0369A1"/>
                </a:solidFill>
              </a:rPr>
              <a:t>Crypto operations</a:t>
            </a:r>
            <a:endParaRPr lang="en-US" sz="950" dirty="0"/>
          </a:p>
        </p:txBody>
      </p:sp>
      <p:sp>
        <p:nvSpPr>
          <p:cNvPr id="46" name="Text 44"/>
          <p:cNvSpPr/>
          <p:nvPr/>
        </p:nvSpPr>
        <p:spPr>
          <a:xfrm>
            <a:off x="2519172" y="4361688"/>
            <a:ext cx="1933956" cy="530352"/>
          </a:xfrm>
          <a:prstGeom prst="rect">
            <a:avLst/>
          </a:prstGeom>
          <a:noFill/>
          <a:ln/>
        </p:spPr>
        <p:txBody>
          <a:bodyPr wrap="square" rtlCol="0" anchor="ctr"/>
          <a:lstStyle/>
          <a:p>
            <a:pPr marL="0" indent="0" algn="ctr">
              <a:buNone/>
            </a:pPr>
            <a:r>
              <a:rPr lang="en-US" sz="850" dirty="0">
                <a:solidFill>
                  <a:srgbClr val="334155"/>
                </a:solidFill>
              </a:rPr>
              <a:t>ECDH scalar mult.</a:t>
            </a:r>
            <a:endParaRPr lang="en-US" sz="850" dirty="0"/>
          </a:p>
          <a:p>
            <a:pPr marL="0" indent="0" algn="ctr">
              <a:buNone/>
            </a:pPr>
            <a:r>
              <a:rPr lang="en-US" sz="850" dirty="0">
                <a:solidFill>
                  <a:srgbClr val="334155"/>
                </a:solidFill>
              </a:rPr>
              <a:t>OpenSSL backend</a:t>
            </a:r>
            <a:endParaRPr lang="en-US" sz="850" dirty="0"/>
          </a:p>
        </p:txBody>
      </p:sp>
      <p:sp>
        <p:nvSpPr>
          <p:cNvPr id="47" name="Shape 45"/>
          <p:cNvSpPr/>
          <p:nvPr/>
        </p:nvSpPr>
        <p:spPr>
          <a:xfrm>
            <a:off x="4617720" y="4050792"/>
            <a:ext cx="2080260" cy="868680"/>
          </a:xfrm>
          <a:prstGeom prst="rect">
            <a:avLst/>
          </a:prstGeom>
          <a:solidFill>
            <a:srgbClr val="F0F9FF"/>
          </a:solidFill>
          <a:ln w="12700">
            <a:solidFill>
              <a:srgbClr val="BAE6FD"/>
            </a:solidFill>
            <a:prstDash val="solid"/>
          </a:ln>
        </p:spPr>
      </p:sp>
      <p:sp>
        <p:nvSpPr>
          <p:cNvPr id="48" name="Text 46"/>
          <p:cNvSpPr/>
          <p:nvPr/>
        </p:nvSpPr>
        <p:spPr>
          <a:xfrm>
            <a:off x="6697980" y="4187952"/>
            <a:ext cx="91440" cy="548640"/>
          </a:xfrm>
          <a:prstGeom prst="rect">
            <a:avLst/>
          </a:prstGeom>
          <a:noFill/>
          <a:ln/>
        </p:spPr>
        <p:txBody>
          <a:bodyPr wrap="square" rtlCol="0" anchor="ctr"/>
          <a:lstStyle/>
          <a:p>
            <a:pPr marL="0" indent="0" algn="ctr">
              <a:buNone/>
            </a:pPr>
            <a:r>
              <a:rPr lang="en-US" sz="1200" dirty="0">
                <a:solidFill>
                  <a:srgbClr val="1D9E75"/>
                </a:solidFill>
              </a:rPr>
              <a:t>→</a:t>
            </a:r>
            <a:endParaRPr lang="en-US" sz="1200" dirty="0"/>
          </a:p>
        </p:txBody>
      </p:sp>
      <p:sp>
        <p:nvSpPr>
          <p:cNvPr id="49" name="Text 47"/>
          <p:cNvSpPr/>
          <p:nvPr/>
        </p:nvSpPr>
        <p:spPr>
          <a:xfrm>
            <a:off x="4690872" y="4078224"/>
            <a:ext cx="1933956" cy="274320"/>
          </a:xfrm>
          <a:prstGeom prst="rect">
            <a:avLst/>
          </a:prstGeom>
          <a:noFill/>
          <a:ln/>
        </p:spPr>
        <p:txBody>
          <a:bodyPr wrap="square" rtlCol="0" anchor="ctr"/>
          <a:lstStyle/>
          <a:p>
            <a:pPr marL="0" indent="0" algn="ctr">
              <a:buNone/>
            </a:pPr>
            <a:r>
              <a:rPr lang="en-US" sz="950" b="1" dirty="0">
                <a:solidFill>
                  <a:srgbClr val="0369A1"/>
                </a:solidFill>
              </a:rPr>
              <a:t>Protocol execution</a:t>
            </a:r>
            <a:endParaRPr lang="en-US" sz="950" dirty="0"/>
          </a:p>
        </p:txBody>
      </p:sp>
      <p:sp>
        <p:nvSpPr>
          <p:cNvPr id="50" name="Text 48"/>
          <p:cNvSpPr/>
          <p:nvPr/>
        </p:nvSpPr>
        <p:spPr>
          <a:xfrm>
            <a:off x="4690872" y="4361688"/>
            <a:ext cx="1933956" cy="530352"/>
          </a:xfrm>
          <a:prstGeom prst="rect">
            <a:avLst/>
          </a:prstGeom>
          <a:noFill/>
          <a:ln/>
        </p:spPr>
        <p:txBody>
          <a:bodyPr wrap="square" rtlCol="0" anchor="ctr"/>
          <a:lstStyle/>
          <a:p>
            <a:pPr marL="0" indent="0" algn="ctr">
              <a:buNone/>
            </a:pPr>
            <a:r>
              <a:rPr lang="en-US" sz="850" dirty="0">
                <a:solidFill>
                  <a:srgbClr val="334155"/>
                </a:solidFill>
              </a:rPr>
              <a:t>4-phase PSI exchange</a:t>
            </a:r>
            <a:endParaRPr lang="en-US" sz="850" dirty="0"/>
          </a:p>
          <a:p>
            <a:pPr marL="0" indent="0" algn="ctr">
              <a:buNone/>
            </a:pPr>
            <a:r>
              <a:rPr lang="en-US" sz="850" dirty="0">
                <a:solidFill>
                  <a:srgbClr val="334155"/>
                </a:solidFill>
              </a:rPr>
              <a:t>TLS-simulated channel</a:t>
            </a:r>
            <a:endParaRPr lang="en-US" sz="850" dirty="0"/>
          </a:p>
        </p:txBody>
      </p:sp>
      <p:sp>
        <p:nvSpPr>
          <p:cNvPr id="51" name="Shape 49"/>
          <p:cNvSpPr/>
          <p:nvPr/>
        </p:nvSpPr>
        <p:spPr>
          <a:xfrm>
            <a:off x="6789420" y="4050792"/>
            <a:ext cx="2080260" cy="868680"/>
          </a:xfrm>
          <a:prstGeom prst="rect">
            <a:avLst/>
          </a:prstGeom>
          <a:solidFill>
            <a:srgbClr val="F0F9FF"/>
          </a:solidFill>
          <a:ln w="12700">
            <a:solidFill>
              <a:srgbClr val="BAE6FD"/>
            </a:solidFill>
            <a:prstDash val="solid"/>
          </a:ln>
        </p:spPr>
      </p:sp>
      <p:sp>
        <p:nvSpPr>
          <p:cNvPr id="52" name="Text 50"/>
          <p:cNvSpPr/>
          <p:nvPr/>
        </p:nvSpPr>
        <p:spPr>
          <a:xfrm>
            <a:off x="6862572" y="4078224"/>
            <a:ext cx="1933956" cy="274320"/>
          </a:xfrm>
          <a:prstGeom prst="rect">
            <a:avLst/>
          </a:prstGeom>
          <a:noFill/>
          <a:ln/>
        </p:spPr>
        <p:txBody>
          <a:bodyPr wrap="square" rtlCol="0" anchor="ctr"/>
          <a:lstStyle/>
          <a:p>
            <a:pPr marL="0" indent="0" algn="ctr">
              <a:buNone/>
            </a:pPr>
            <a:r>
              <a:rPr lang="en-US" sz="950" b="1" dirty="0">
                <a:solidFill>
                  <a:srgbClr val="0369A1"/>
                </a:solidFill>
              </a:rPr>
              <a:t>Result computation</a:t>
            </a:r>
            <a:endParaRPr lang="en-US" sz="950" dirty="0"/>
          </a:p>
        </p:txBody>
      </p:sp>
      <p:sp>
        <p:nvSpPr>
          <p:cNvPr id="53" name="Text 51"/>
          <p:cNvSpPr/>
          <p:nvPr/>
        </p:nvSpPr>
        <p:spPr>
          <a:xfrm>
            <a:off x="6862572" y="4361688"/>
            <a:ext cx="1933956" cy="530352"/>
          </a:xfrm>
          <a:prstGeom prst="rect">
            <a:avLst/>
          </a:prstGeom>
          <a:noFill/>
          <a:ln/>
        </p:spPr>
        <p:txBody>
          <a:bodyPr wrap="square" rtlCol="0" anchor="ctr"/>
          <a:lstStyle/>
          <a:p>
            <a:pPr marL="0" indent="0" algn="ctr">
              <a:buNone/>
            </a:pPr>
            <a:r>
              <a:rPr lang="en-US" sz="850" dirty="0">
                <a:solidFill>
                  <a:srgbClr val="334155"/>
                </a:solidFill>
              </a:rPr>
              <a:t>O(n) set intersection</a:t>
            </a:r>
            <a:endParaRPr lang="en-US" sz="850" dirty="0"/>
          </a:p>
          <a:p>
            <a:pPr marL="0" indent="0" algn="ctr">
              <a:buNone/>
            </a:pPr>
            <a:r>
              <a:rPr lang="en-US" sz="850" dirty="0">
                <a:solidFill>
                  <a:srgbClr val="334155"/>
                </a:solidFill>
              </a:rPr>
              <a:t>Lookup table recovery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Experimental evaluation — performance results</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9</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graphicFrame>
        <p:nvGraphicFramePr>
          <p:cNvPr id="6" name="Chart 0"/>
          <p:cNvGraphicFramePr/>
          <p:nvPr/>
        </p:nvGraphicFramePr>
        <p:xfrm>
          <a:off x="274320" y="713232"/>
          <a:ext cx="8595360" cy="2267712"/>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675120" y="777240"/>
            <a:ext cx="2103120" cy="393192"/>
          </a:xfrm>
          <a:prstGeom prst="rect">
            <a:avLst/>
          </a:prstGeom>
          <a:solidFill>
            <a:srgbClr val="ECFDF5"/>
          </a:solidFill>
          <a:ln w="19050">
            <a:solidFill>
              <a:srgbClr val="1D9E75"/>
            </a:solidFill>
            <a:prstDash val="solid"/>
          </a:ln>
        </p:spPr>
      </p:sp>
      <p:sp>
        <p:nvSpPr>
          <p:cNvPr id="8" name="Text 5"/>
          <p:cNvSpPr/>
          <p:nvPr/>
        </p:nvSpPr>
        <p:spPr>
          <a:xfrm>
            <a:off x="6675120" y="777240"/>
            <a:ext cx="2103120" cy="393192"/>
          </a:xfrm>
          <a:prstGeom prst="rect">
            <a:avLst/>
          </a:prstGeom>
          <a:noFill/>
          <a:ln/>
        </p:spPr>
        <p:txBody>
          <a:bodyPr wrap="square" rtlCol="0" anchor="ctr"/>
          <a:lstStyle/>
          <a:p>
            <a:pPr marL="0" indent="0" algn="ctr">
              <a:buNone/>
            </a:pPr>
            <a:r>
              <a:rPr lang="en-US" sz="1050" b="1" dirty="0">
                <a:solidFill>
                  <a:srgbClr val="065F46"/>
                </a:solidFill>
              </a:rPr>
              <a:t>7.2× faster than RSA</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3072384"/>
          <a:ext cx="7498080" cy="1801368"/>
        </p:xfrm>
        <a:graphic>
          <a:graphicData uri="http://schemas.openxmlformats.org/drawingml/2006/table">
            <a:tbl>
              <a:tblPr/>
              <a:tblGrid>
                <a:gridCol w="914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360274">
                <a:tc>
                  <a:txBody>
                    <a:bodyPr/>
                    <a:lstStyle/>
                    <a:p>
                      <a:pPr marL="0" indent="0" algn="ctr">
                        <a:buNone/>
                      </a:pPr>
                      <a:r>
                        <a:rPr lang="en-US" sz="1050" b="1" dirty="0">
                          <a:solidFill>
                            <a:srgbClr val="FFFFFF"/>
                          </a:solidFill>
                        </a:rPr>
                        <a:t>n</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050" b="1" dirty="0">
                          <a:solidFill>
                            <a:srgbClr val="FFFFFF"/>
                          </a:solidFill>
                        </a:rPr>
                        <a:t>Hash (ms)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050" b="1" dirty="0">
                          <a:solidFill>
                            <a:srgbClr val="FFFFFF"/>
                          </a:solidFill>
                        </a:rPr>
                        <a:t>Encrypt (ms)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050" b="1" dirty="0">
                          <a:solidFill>
                            <a:srgbClr val="FFFFFF"/>
                          </a:solidFill>
                        </a:rPr>
                        <a:t>Intersect (ms)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marL="0" indent="0" algn="ctr">
                        <a:buNone/>
                      </a:pPr>
                      <a:r>
                        <a:rPr lang="en-US" sz="1050" b="1" dirty="0">
                          <a:solidFill>
                            <a:srgbClr val="FFFFFF"/>
                          </a:solidFill>
                        </a:rPr>
                        <a:t>Total (ms)</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D9E75"/>
                    </a:solidFill>
                  </a:tcPr>
                </a:tc>
                <a:tc>
                  <a:txBody>
                    <a:bodyPr/>
                    <a:lstStyle/>
                    <a:p>
                      <a:pPr marL="0" indent="0" algn="ctr">
                        <a:buNone/>
                      </a:pPr>
                      <a:r>
                        <a:rPr lang="en-US" sz="1050" b="1" dirty="0">
                          <a:solidFill>
                            <a:srgbClr val="FFFFFF"/>
                          </a:solidFill>
                        </a:rPr>
                        <a:t>Comm. (KB)</a:t>
                      </a:r>
                      <a:endParaRPr lang="en-US" sz="105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360274">
                <a:tc>
                  <a:txBody>
                    <a:bodyPr/>
                    <a:lstStyle/>
                    <a:p>
                      <a:pPr marL="0" indent="0" algn="ctr">
                        <a:buNone/>
                      </a:pPr>
                      <a:r>
                        <a:rPr lang="en-US" sz="1000" dirty="0">
                          <a:solidFill>
                            <a:srgbClr val="334155"/>
                          </a:solidFill>
                        </a:rPr>
                        <a:t>100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1.2</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8.7</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2.5</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65F46"/>
                          </a:solidFill>
                        </a:rPr>
                        <a:t>12.4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000" dirty="0">
                          <a:solidFill>
                            <a:srgbClr val="334155"/>
                          </a:solidFill>
                        </a:rPr>
                        <a:t>4.2</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0274">
                <a:tc>
                  <a:txBody>
                    <a:bodyPr/>
                    <a:lstStyle/>
                    <a:p>
                      <a:pPr marL="0" indent="0" algn="ctr">
                        <a:buNone/>
                      </a:pPr>
                      <a:r>
                        <a:rPr lang="en-US" sz="1000" dirty="0">
                          <a:solidFill>
                            <a:srgbClr val="334155"/>
                          </a:solidFill>
                        </a:rPr>
                        <a:t>500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5.9</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43.2</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9.6</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65F46"/>
                          </a:solidFill>
                        </a:rPr>
                        <a:t>58.7</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000" dirty="0">
                          <a:solidFill>
                            <a:srgbClr val="334155"/>
                          </a:solidFill>
                        </a:rPr>
                        <a:t>20.8</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0274">
                <a:tc>
                  <a:txBody>
                    <a:bodyPr/>
                    <a:lstStyle/>
                    <a:p>
                      <a:pPr marL="0" indent="0" algn="ctr">
                        <a:buNone/>
                      </a:pPr>
                      <a:r>
                        <a:rPr lang="en-US" sz="1000" dirty="0">
                          <a:solidFill>
                            <a:srgbClr val="334155"/>
                          </a:solidFill>
                        </a:rPr>
                        <a:t>1,000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11.8</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87.4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19.1</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65F46"/>
                          </a:solidFill>
                        </a:rPr>
                        <a:t>118.3</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000" dirty="0">
                          <a:solidFill>
                            <a:srgbClr val="334155"/>
                          </a:solidFill>
                        </a:rPr>
                        <a:t>41.6</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0274">
                <a:tc>
                  <a:txBody>
                    <a:bodyPr/>
                    <a:lstStyle/>
                    <a:p>
                      <a:pPr marL="0" indent="0" algn="ctr">
                        <a:buNone/>
                      </a:pPr>
                      <a:r>
                        <a:rPr lang="en-US" sz="1000" dirty="0">
                          <a:solidFill>
                            <a:srgbClr val="334155"/>
                          </a:solidFill>
                        </a:rPr>
                        <a:t>2,500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29.4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218.3</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rPr>
                        <a:t>48.4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65F46"/>
                          </a:solidFill>
                        </a:rPr>
                        <a:t>296.1</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000" dirty="0">
                          <a:solidFill>
                            <a:srgbClr val="334155"/>
                          </a:solidFill>
                        </a:rPr>
                        <a:t>103.8</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0274">
                <a:tc>
                  <a:txBody>
                    <a:bodyPr/>
                    <a:lstStyle/>
                    <a:p>
                      <a:pPr marL="0" indent="0" algn="ctr">
                        <a:buNone/>
                      </a:pPr>
                      <a:r>
                        <a:rPr lang="en-US" sz="1000" b="1" dirty="0">
                          <a:solidFill>
                            <a:srgbClr val="0A1628"/>
                          </a:solidFill>
                        </a:rPr>
                        <a:t>5,000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ctr">
                        <a:buNone/>
                      </a:pPr>
                      <a:r>
                        <a:rPr lang="en-US" sz="1000" b="1" dirty="0">
                          <a:solidFill>
                            <a:srgbClr val="0A1628"/>
                          </a:solidFill>
                        </a:rPr>
                        <a:t>58.7</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ctr">
                        <a:buNone/>
                      </a:pPr>
                      <a:r>
                        <a:rPr lang="en-US" sz="1000" b="1" dirty="0">
                          <a:solidFill>
                            <a:srgbClr val="0A1628"/>
                          </a:solidFill>
                        </a:rPr>
                        <a:t>438.1</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ctr">
                        <a:buNone/>
                      </a:pPr>
                      <a:r>
                        <a:rPr lang="en-US" sz="1000" b="1" dirty="0">
                          <a:solidFill>
                            <a:srgbClr val="0A1628"/>
                          </a:solidFill>
                        </a:rPr>
                        <a:t>97.4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ctr">
                        <a:buNone/>
                      </a:pPr>
                      <a:r>
                        <a:rPr lang="en-US" sz="1000" b="1" dirty="0">
                          <a:solidFill>
                            <a:srgbClr val="065F46"/>
                          </a:solidFill>
                        </a:rPr>
                        <a:t>594.2</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CFDF5"/>
                    </a:solidFill>
                  </a:tcPr>
                </a:tc>
                <a:tc>
                  <a:txBody>
                    <a:bodyPr/>
                    <a:lstStyle/>
                    <a:p>
                      <a:pPr marL="0" indent="0" algn="ctr">
                        <a:buNone/>
                      </a:pPr>
                      <a:r>
                        <a:rPr lang="en-US" sz="1000" b="1" dirty="0">
                          <a:solidFill>
                            <a:srgbClr val="0A1628"/>
                          </a:solidFill>
                        </a:rPr>
                        <a:t>207.7</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5"/>
                  </a:ext>
                </a:extLst>
              </a:tr>
            </a:tbl>
          </a:graphicData>
        </a:graphic>
      </p:graphicFrame>
      <p:sp>
        <p:nvSpPr>
          <p:cNvPr id="9" name="Text 6"/>
          <p:cNvSpPr/>
          <p:nvPr/>
        </p:nvSpPr>
        <p:spPr>
          <a:xfrm>
            <a:off x="7863840" y="3072384"/>
            <a:ext cx="1005840" cy="1801368"/>
          </a:xfrm>
          <a:prstGeom prst="rect">
            <a:avLst/>
          </a:prstGeom>
          <a:noFill/>
          <a:ln/>
        </p:spPr>
        <p:txBody>
          <a:bodyPr wrap="square" rtlCol="0" anchor="ctr"/>
          <a:lstStyle/>
          <a:p>
            <a:pPr marL="0" indent="0" algn="ctr">
              <a:buNone/>
            </a:pPr>
            <a:r>
              <a:rPr lang="en-US" sz="900" i="1" dirty="0">
                <a:solidFill>
                  <a:srgbClr val="334155"/>
                </a:solidFill>
              </a:rPr>
              <a:t>Encryption</a:t>
            </a:r>
            <a:endParaRPr lang="en-US" sz="900" dirty="0"/>
          </a:p>
          <a:p>
            <a:pPr marL="0" indent="0" algn="ctr">
              <a:buNone/>
            </a:pPr>
            <a:r>
              <a:rPr lang="en-US" sz="900" i="1" dirty="0">
                <a:solidFill>
                  <a:srgbClr val="334155"/>
                </a:solidFill>
              </a:rPr>
              <a:t>dominates 73-74%</a:t>
            </a:r>
            <a:endParaRPr lang="en-US" sz="900" dirty="0"/>
          </a:p>
          <a:p>
            <a:pPr marL="0" indent="0" algn="ctr">
              <a:buNone/>
            </a:pPr>
            <a:r>
              <a:rPr lang="en-US" sz="900" i="1" dirty="0">
                <a:solidFill>
                  <a:srgbClr val="334155"/>
                </a:solidFill>
              </a:rPr>
              <a:t>of total time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Security analysis — resistance to known attacks</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10</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13232"/>
            <a:ext cx="4206240" cy="1645920"/>
          </a:xfrm>
          <a:prstGeom prst="rect">
            <a:avLst/>
          </a:prstGeom>
          <a:solidFill>
            <a:srgbClr val="FAFAFA"/>
          </a:solidFill>
          <a:ln w="12700">
            <a:solidFill>
              <a:srgbClr val="E2E8F0"/>
            </a:solidFill>
            <a:prstDash val="solid"/>
          </a:ln>
        </p:spPr>
      </p:sp>
      <p:sp>
        <p:nvSpPr>
          <p:cNvPr id="7" name="Shape 5"/>
          <p:cNvSpPr/>
          <p:nvPr/>
        </p:nvSpPr>
        <p:spPr>
          <a:xfrm>
            <a:off x="274320" y="713232"/>
            <a:ext cx="4206240" cy="338328"/>
          </a:xfrm>
          <a:prstGeom prst="rect">
            <a:avLst/>
          </a:prstGeom>
          <a:solidFill>
            <a:srgbClr val="1D9E75"/>
          </a:solidFill>
          <a:ln w="12700">
            <a:solidFill>
              <a:srgbClr val="1D9E75"/>
            </a:solidFill>
            <a:prstDash val="solid"/>
          </a:ln>
        </p:spPr>
      </p:sp>
      <p:sp>
        <p:nvSpPr>
          <p:cNvPr id="8" name="Text 6"/>
          <p:cNvSpPr/>
          <p:nvPr/>
        </p:nvSpPr>
        <p:spPr>
          <a:xfrm>
            <a:off x="384048" y="713232"/>
            <a:ext cx="3986784" cy="338328"/>
          </a:xfrm>
          <a:prstGeom prst="rect">
            <a:avLst/>
          </a:prstGeom>
          <a:noFill/>
          <a:ln/>
        </p:spPr>
        <p:txBody>
          <a:bodyPr wrap="square" lIns="0" tIns="0" rIns="0" bIns="0" rtlCol="0" anchor="ctr"/>
          <a:lstStyle/>
          <a:p>
            <a:pPr marL="0" indent="0">
              <a:buNone/>
            </a:pPr>
            <a:r>
              <a:rPr lang="en-US" sz="1150" b="1" dirty="0">
                <a:solidFill>
                  <a:srgbClr val="FFFFFF"/>
                </a:solidFill>
              </a:rPr>
              <a:t>Dictionary attacks</a:t>
            </a:r>
            <a:endParaRPr lang="en-US" sz="1150" dirty="0"/>
          </a:p>
        </p:txBody>
      </p:sp>
      <p:sp>
        <p:nvSpPr>
          <p:cNvPr id="9" name="Shape 7"/>
          <p:cNvSpPr/>
          <p:nvPr/>
        </p:nvSpPr>
        <p:spPr>
          <a:xfrm>
            <a:off x="274320" y="1051560"/>
            <a:ext cx="64008" cy="594360"/>
          </a:xfrm>
          <a:prstGeom prst="rect">
            <a:avLst/>
          </a:prstGeom>
          <a:solidFill>
            <a:srgbClr val="EF9F27"/>
          </a:solidFill>
          <a:ln w="12700">
            <a:solidFill>
              <a:srgbClr val="EF9F27"/>
            </a:solidFill>
            <a:prstDash val="solid"/>
          </a:ln>
        </p:spPr>
      </p:sp>
      <p:sp>
        <p:nvSpPr>
          <p:cNvPr id="10" name="Text 8"/>
          <p:cNvSpPr/>
          <p:nvPr/>
        </p:nvSpPr>
        <p:spPr>
          <a:xfrm>
            <a:off x="438912" y="1051560"/>
            <a:ext cx="3977640" cy="594360"/>
          </a:xfrm>
          <a:prstGeom prst="rect">
            <a:avLst/>
          </a:prstGeom>
          <a:noFill/>
          <a:ln/>
        </p:spPr>
        <p:txBody>
          <a:bodyPr wrap="square" rtlCol="0" anchor="ctr"/>
          <a:lstStyle/>
          <a:p>
            <a:pPr marL="0" indent="0">
              <a:buNone/>
            </a:pPr>
            <a:r>
              <a:rPr lang="en-US" sz="950" dirty="0">
                <a:solidFill>
                  <a:srgbClr val="92400E"/>
                </a:solidFill>
              </a:rPr>
              <a:t>Threat: Precomputed table of hashed phone numbers used to reverse-identify contacts.</a:t>
            </a:r>
            <a:endParaRPr lang="en-US" sz="950" dirty="0"/>
          </a:p>
        </p:txBody>
      </p:sp>
      <p:sp>
        <p:nvSpPr>
          <p:cNvPr id="11" name="Shape 9"/>
          <p:cNvSpPr/>
          <p:nvPr/>
        </p:nvSpPr>
        <p:spPr>
          <a:xfrm>
            <a:off x="274320" y="1645920"/>
            <a:ext cx="64008" cy="713232"/>
          </a:xfrm>
          <a:prstGeom prst="rect">
            <a:avLst/>
          </a:prstGeom>
          <a:solidFill>
            <a:srgbClr val="1D9E75"/>
          </a:solidFill>
          <a:ln w="12700">
            <a:solidFill>
              <a:srgbClr val="1D9E75"/>
            </a:solidFill>
            <a:prstDash val="solid"/>
          </a:ln>
        </p:spPr>
      </p:sp>
      <p:sp>
        <p:nvSpPr>
          <p:cNvPr id="12" name="Text 10"/>
          <p:cNvSpPr/>
          <p:nvPr/>
        </p:nvSpPr>
        <p:spPr>
          <a:xfrm>
            <a:off x="438912" y="1645920"/>
            <a:ext cx="3977640" cy="713232"/>
          </a:xfrm>
          <a:prstGeom prst="rect">
            <a:avLst/>
          </a:prstGeom>
          <a:noFill/>
          <a:ln/>
        </p:spPr>
        <p:txBody>
          <a:bodyPr wrap="square" rtlCol="0" anchor="ctr"/>
          <a:lstStyle/>
          <a:p>
            <a:pPr marL="0" indent="0">
              <a:buNone/>
            </a:pPr>
            <a:r>
              <a:rPr lang="en-US" sz="950" dirty="0">
                <a:solidFill>
                  <a:srgbClr val="065F46"/>
                </a:solidFill>
              </a:rPr>
              <a:t>Defense: Blinding with a fresh ephemeral scalar per session makes offline matching computationally equivalent to breaking the ECDLP.</a:t>
            </a:r>
            <a:endParaRPr lang="en-US" sz="950" dirty="0"/>
          </a:p>
        </p:txBody>
      </p:sp>
      <p:sp>
        <p:nvSpPr>
          <p:cNvPr id="13" name="Shape 11"/>
          <p:cNvSpPr/>
          <p:nvPr/>
        </p:nvSpPr>
        <p:spPr>
          <a:xfrm>
            <a:off x="4663440" y="713232"/>
            <a:ext cx="4206240" cy="1645920"/>
          </a:xfrm>
          <a:prstGeom prst="rect">
            <a:avLst/>
          </a:prstGeom>
          <a:solidFill>
            <a:srgbClr val="FAFAFA"/>
          </a:solidFill>
          <a:ln w="12700">
            <a:solidFill>
              <a:srgbClr val="E2E8F0"/>
            </a:solidFill>
            <a:prstDash val="solid"/>
          </a:ln>
        </p:spPr>
      </p:sp>
      <p:sp>
        <p:nvSpPr>
          <p:cNvPr id="14" name="Shape 12"/>
          <p:cNvSpPr/>
          <p:nvPr/>
        </p:nvSpPr>
        <p:spPr>
          <a:xfrm>
            <a:off x="4663440" y="713232"/>
            <a:ext cx="4206240" cy="338328"/>
          </a:xfrm>
          <a:prstGeom prst="rect">
            <a:avLst/>
          </a:prstGeom>
          <a:solidFill>
            <a:srgbClr val="1D9E75"/>
          </a:solidFill>
          <a:ln w="12700">
            <a:solidFill>
              <a:srgbClr val="1D9E75"/>
            </a:solidFill>
            <a:prstDash val="solid"/>
          </a:ln>
        </p:spPr>
      </p:sp>
      <p:sp>
        <p:nvSpPr>
          <p:cNvPr id="15" name="Text 13"/>
          <p:cNvSpPr/>
          <p:nvPr/>
        </p:nvSpPr>
        <p:spPr>
          <a:xfrm>
            <a:off x="4773168" y="713232"/>
            <a:ext cx="3986784" cy="338328"/>
          </a:xfrm>
          <a:prstGeom prst="rect">
            <a:avLst/>
          </a:prstGeom>
          <a:noFill/>
          <a:ln/>
        </p:spPr>
        <p:txBody>
          <a:bodyPr wrap="square" lIns="0" tIns="0" rIns="0" bIns="0" rtlCol="0" anchor="ctr"/>
          <a:lstStyle/>
          <a:p>
            <a:pPr marL="0" indent="0">
              <a:buNone/>
            </a:pPr>
            <a:r>
              <a:rPr lang="en-US" sz="1150" b="1" dirty="0">
                <a:solidFill>
                  <a:srgbClr val="FFFFFF"/>
                </a:solidFill>
              </a:rPr>
              <a:t>Replay attacks</a:t>
            </a:r>
            <a:endParaRPr lang="en-US" sz="1150" dirty="0"/>
          </a:p>
        </p:txBody>
      </p:sp>
      <p:sp>
        <p:nvSpPr>
          <p:cNvPr id="16" name="Shape 14"/>
          <p:cNvSpPr/>
          <p:nvPr/>
        </p:nvSpPr>
        <p:spPr>
          <a:xfrm>
            <a:off x="4663440" y="1051560"/>
            <a:ext cx="64008" cy="594360"/>
          </a:xfrm>
          <a:prstGeom prst="rect">
            <a:avLst/>
          </a:prstGeom>
          <a:solidFill>
            <a:srgbClr val="EF9F27"/>
          </a:solidFill>
          <a:ln w="12700">
            <a:solidFill>
              <a:srgbClr val="EF9F27"/>
            </a:solidFill>
            <a:prstDash val="solid"/>
          </a:ln>
        </p:spPr>
      </p:sp>
      <p:sp>
        <p:nvSpPr>
          <p:cNvPr id="17" name="Text 15"/>
          <p:cNvSpPr/>
          <p:nvPr/>
        </p:nvSpPr>
        <p:spPr>
          <a:xfrm>
            <a:off x="4828032" y="1051560"/>
            <a:ext cx="3977640" cy="594360"/>
          </a:xfrm>
          <a:prstGeom prst="rect">
            <a:avLst/>
          </a:prstGeom>
          <a:noFill/>
          <a:ln/>
        </p:spPr>
        <p:txBody>
          <a:bodyPr wrap="square" rtlCol="0" anchor="ctr"/>
          <a:lstStyle/>
          <a:p>
            <a:pPr marL="0" indent="0">
              <a:buNone/>
            </a:pPr>
            <a:r>
              <a:rPr lang="en-US" sz="950" dirty="0">
                <a:solidFill>
                  <a:srgbClr val="92400E"/>
                </a:solidFill>
              </a:rPr>
              <a:t>Threat: Recorded session transcript reused in a future session to gain information.</a:t>
            </a:r>
            <a:endParaRPr lang="en-US" sz="950" dirty="0"/>
          </a:p>
        </p:txBody>
      </p:sp>
      <p:sp>
        <p:nvSpPr>
          <p:cNvPr id="18" name="Shape 16"/>
          <p:cNvSpPr/>
          <p:nvPr/>
        </p:nvSpPr>
        <p:spPr>
          <a:xfrm>
            <a:off x="4663440" y="1645920"/>
            <a:ext cx="64008" cy="713232"/>
          </a:xfrm>
          <a:prstGeom prst="rect">
            <a:avLst/>
          </a:prstGeom>
          <a:solidFill>
            <a:srgbClr val="1D9E75"/>
          </a:solidFill>
          <a:ln w="12700">
            <a:solidFill>
              <a:srgbClr val="1D9E75"/>
            </a:solidFill>
            <a:prstDash val="solid"/>
          </a:ln>
        </p:spPr>
      </p:sp>
      <p:sp>
        <p:nvSpPr>
          <p:cNvPr id="19" name="Text 17"/>
          <p:cNvSpPr/>
          <p:nvPr/>
        </p:nvSpPr>
        <p:spPr>
          <a:xfrm>
            <a:off x="4828032" y="1645920"/>
            <a:ext cx="3977640" cy="713232"/>
          </a:xfrm>
          <a:prstGeom prst="rect">
            <a:avLst/>
          </a:prstGeom>
          <a:noFill/>
          <a:ln/>
        </p:spPr>
        <p:txBody>
          <a:bodyPr wrap="square" rtlCol="0" anchor="ctr"/>
          <a:lstStyle/>
          <a:p>
            <a:pPr marL="0" indent="0">
              <a:buNone/>
            </a:pPr>
            <a:r>
              <a:rPr lang="en-US" sz="950" dirty="0">
                <a:solidFill>
                  <a:srgbClr val="065F46"/>
                </a:solidFill>
              </a:rPr>
              <a:t>Defense: Scalars a and b are independently discarded after every session. Prior transcripts are statistically independent of new sessions.</a:t>
            </a:r>
            <a:endParaRPr lang="en-US" sz="950" dirty="0"/>
          </a:p>
        </p:txBody>
      </p:sp>
      <p:sp>
        <p:nvSpPr>
          <p:cNvPr id="20" name="Shape 18"/>
          <p:cNvSpPr/>
          <p:nvPr/>
        </p:nvSpPr>
        <p:spPr>
          <a:xfrm>
            <a:off x="274320" y="2496312"/>
            <a:ext cx="4206240" cy="1645920"/>
          </a:xfrm>
          <a:prstGeom prst="rect">
            <a:avLst/>
          </a:prstGeom>
          <a:solidFill>
            <a:srgbClr val="FAFAFA"/>
          </a:solidFill>
          <a:ln w="12700">
            <a:solidFill>
              <a:srgbClr val="E2E8F0"/>
            </a:solidFill>
            <a:prstDash val="solid"/>
          </a:ln>
        </p:spPr>
      </p:sp>
      <p:sp>
        <p:nvSpPr>
          <p:cNvPr id="21" name="Shape 19"/>
          <p:cNvSpPr/>
          <p:nvPr/>
        </p:nvSpPr>
        <p:spPr>
          <a:xfrm>
            <a:off x="274320" y="2496312"/>
            <a:ext cx="4206240" cy="338328"/>
          </a:xfrm>
          <a:prstGeom prst="rect">
            <a:avLst/>
          </a:prstGeom>
          <a:solidFill>
            <a:srgbClr val="1D9E75"/>
          </a:solidFill>
          <a:ln w="12700">
            <a:solidFill>
              <a:srgbClr val="1D9E75"/>
            </a:solidFill>
            <a:prstDash val="solid"/>
          </a:ln>
        </p:spPr>
      </p:sp>
      <p:sp>
        <p:nvSpPr>
          <p:cNvPr id="22" name="Text 20"/>
          <p:cNvSpPr/>
          <p:nvPr/>
        </p:nvSpPr>
        <p:spPr>
          <a:xfrm>
            <a:off x="384048" y="2496312"/>
            <a:ext cx="3986784" cy="338328"/>
          </a:xfrm>
          <a:prstGeom prst="rect">
            <a:avLst/>
          </a:prstGeom>
          <a:noFill/>
          <a:ln/>
        </p:spPr>
        <p:txBody>
          <a:bodyPr wrap="square" lIns="0" tIns="0" rIns="0" bIns="0" rtlCol="0" anchor="ctr"/>
          <a:lstStyle/>
          <a:p>
            <a:pPr marL="0" indent="0">
              <a:buNone/>
            </a:pPr>
            <a:r>
              <a:rPr lang="en-US" sz="1150" b="1" dirty="0">
                <a:solidFill>
                  <a:srgbClr val="FFFFFF"/>
                </a:solidFill>
              </a:rPr>
              <a:t>Passive eavesdropping</a:t>
            </a:r>
            <a:endParaRPr lang="en-US" sz="1150" dirty="0"/>
          </a:p>
        </p:txBody>
      </p:sp>
      <p:sp>
        <p:nvSpPr>
          <p:cNvPr id="23" name="Shape 21"/>
          <p:cNvSpPr/>
          <p:nvPr/>
        </p:nvSpPr>
        <p:spPr>
          <a:xfrm>
            <a:off x="274320" y="2834640"/>
            <a:ext cx="64008" cy="594360"/>
          </a:xfrm>
          <a:prstGeom prst="rect">
            <a:avLst/>
          </a:prstGeom>
          <a:solidFill>
            <a:srgbClr val="EF9F27"/>
          </a:solidFill>
          <a:ln w="12700">
            <a:solidFill>
              <a:srgbClr val="EF9F27"/>
            </a:solidFill>
            <a:prstDash val="solid"/>
          </a:ln>
        </p:spPr>
      </p:sp>
      <p:sp>
        <p:nvSpPr>
          <p:cNvPr id="24" name="Text 22"/>
          <p:cNvSpPr/>
          <p:nvPr/>
        </p:nvSpPr>
        <p:spPr>
          <a:xfrm>
            <a:off x="438912" y="2834640"/>
            <a:ext cx="3977640" cy="594360"/>
          </a:xfrm>
          <a:prstGeom prst="rect">
            <a:avLst/>
          </a:prstGeom>
          <a:noFill/>
          <a:ln/>
        </p:spPr>
        <p:txBody>
          <a:bodyPr wrap="square" rtlCol="0" anchor="ctr"/>
          <a:lstStyle/>
          <a:p>
            <a:pPr marL="0" indent="0">
              <a:buNone/>
            </a:pPr>
            <a:r>
              <a:rPr lang="en-US" sz="950" dirty="0">
                <a:solidFill>
                  <a:srgbClr val="92400E"/>
                </a:solidFill>
              </a:rPr>
              <a:t>Threat: Network observer intercepts the full protocol transcript and analyzes it offline.</a:t>
            </a:r>
            <a:endParaRPr lang="en-US" sz="950" dirty="0"/>
          </a:p>
        </p:txBody>
      </p:sp>
      <p:sp>
        <p:nvSpPr>
          <p:cNvPr id="25" name="Shape 23"/>
          <p:cNvSpPr/>
          <p:nvPr/>
        </p:nvSpPr>
        <p:spPr>
          <a:xfrm>
            <a:off x="274320" y="3429000"/>
            <a:ext cx="64008" cy="713232"/>
          </a:xfrm>
          <a:prstGeom prst="rect">
            <a:avLst/>
          </a:prstGeom>
          <a:solidFill>
            <a:srgbClr val="1D9E75"/>
          </a:solidFill>
          <a:ln w="12700">
            <a:solidFill>
              <a:srgbClr val="1D9E75"/>
            </a:solidFill>
            <a:prstDash val="solid"/>
          </a:ln>
        </p:spPr>
      </p:sp>
      <p:sp>
        <p:nvSpPr>
          <p:cNvPr id="26" name="Text 24"/>
          <p:cNvSpPr/>
          <p:nvPr/>
        </p:nvSpPr>
        <p:spPr>
          <a:xfrm>
            <a:off x="438912" y="3429000"/>
            <a:ext cx="3977640" cy="713232"/>
          </a:xfrm>
          <a:prstGeom prst="rect">
            <a:avLst/>
          </a:prstGeom>
          <a:noFill/>
          <a:ln/>
        </p:spPr>
        <p:txBody>
          <a:bodyPr wrap="square" rtlCol="0" anchor="ctr"/>
          <a:lstStyle/>
          <a:p>
            <a:pPr marL="0" indent="0">
              <a:buNone/>
            </a:pPr>
            <a:r>
              <a:rPr lang="en-US" sz="950" dirty="0">
                <a:solidFill>
                  <a:srgbClr val="065F46"/>
                </a:solidFill>
              </a:rPr>
              <a:t>Defense: All transmitted values are cryptographically blinded elliptic curve points. TLS 1.3 provides additional channel confidentiality.</a:t>
            </a:r>
            <a:endParaRPr lang="en-US" sz="950" dirty="0"/>
          </a:p>
        </p:txBody>
      </p:sp>
      <p:sp>
        <p:nvSpPr>
          <p:cNvPr id="27" name="Shape 25"/>
          <p:cNvSpPr/>
          <p:nvPr/>
        </p:nvSpPr>
        <p:spPr>
          <a:xfrm>
            <a:off x="4663440" y="2496312"/>
            <a:ext cx="4206240" cy="1645920"/>
          </a:xfrm>
          <a:prstGeom prst="rect">
            <a:avLst/>
          </a:prstGeom>
          <a:solidFill>
            <a:srgbClr val="FAFAFA"/>
          </a:solidFill>
          <a:ln w="12700">
            <a:solidFill>
              <a:srgbClr val="E2E8F0"/>
            </a:solidFill>
            <a:prstDash val="solid"/>
          </a:ln>
        </p:spPr>
      </p:sp>
      <p:sp>
        <p:nvSpPr>
          <p:cNvPr id="28" name="Shape 26"/>
          <p:cNvSpPr/>
          <p:nvPr/>
        </p:nvSpPr>
        <p:spPr>
          <a:xfrm>
            <a:off x="4663440" y="2496312"/>
            <a:ext cx="4206240" cy="338328"/>
          </a:xfrm>
          <a:prstGeom prst="rect">
            <a:avLst/>
          </a:prstGeom>
          <a:solidFill>
            <a:srgbClr val="1D9E75"/>
          </a:solidFill>
          <a:ln w="12700">
            <a:solidFill>
              <a:srgbClr val="1D9E75"/>
            </a:solidFill>
            <a:prstDash val="solid"/>
          </a:ln>
        </p:spPr>
      </p:sp>
      <p:sp>
        <p:nvSpPr>
          <p:cNvPr id="29" name="Text 27"/>
          <p:cNvSpPr/>
          <p:nvPr/>
        </p:nvSpPr>
        <p:spPr>
          <a:xfrm>
            <a:off x="4773168" y="2496312"/>
            <a:ext cx="3986784" cy="338328"/>
          </a:xfrm>
          <a:prstGeom prst="rect">
            <a:avLst/>
          </a:prstGeom>
          <a:noFill/>
          <a:ln/>
        </p:spPr>
        <p:txBody>
          <a:bodyPr wrap="square" lIns="0" tIns="0" rIns="0" bIns="0" rtlCol="0" anchor="ctr"/>
          <a:lstStyle/>
          <a:p>
            <a:pPr marL="0" indent="0">
              <a:buNone/>
            </a:pPr>
            <a:r>
              <a:rPr lang="en-US" sz="1150" b="1" dirty="0">
                <a:solidFill>
                  <a:srgbClr val="FFFFFF"/>
                </a:solidFill>
              </a:rPr>
              <a:t>Set-size inference</a:t>
            </a:r>
            <a:endParaRPr lang="en-US" sz="1150" dirty="0"/>
          </a:p>
        </p:txBody>
      </p:sp>
      <p:sp>
        <p:nvSpPr>
          <p:cNvPr id="30" name="Shape 28"/>
          <p:cNvSpPr/>
          <p:nvPr/>
        </p:nvSpPr>
        <p:spPr>
          <a:xfrm>
            <a:off x="4663440" y="2834640"/>
            <a:ext cx="64008" cy="594360"/>
          </a:xfrm>
          <a:prstGeom prst="rect">
            <a:avLst/>
          </a:prstGeom>
          <a:solidFill>
            <a:srgbClr val="EF9F27"/>
          </a:solidFill>
          <a:ln w="12700">
            <a:solidFill>
              <a:srgbClr val="EF9F27"/>
            </a:solidFill>
            <a:prstDash val="solid"/>
          </a:ln>
        </p:spPr>
      </p:sp>
      <p:sp>
        <p:nvSpPr>
          <p:cNvPr id="31" name="Text 29"/>
          <p:cNvSpPr/>
          <p:nvPr/>
        </p:nvSpPr>
        <p:spPr>
          <a:xfrm>
            <a:off x="4828032" y="2834640"/>
            <a:ext cx="3977640" cy="594360"/>
          </a:xfrm>
          <a:prstGeom prst="rect">
            <a:avLst/>
          </a:prstGeom>
          <a:noFill/>
          <a:ln/>
        </p:spPr>
        <p:txBody>
          <a:bodyPr wrap="square" rtlCol="0" anchor="ctr"/>
          <a:lstStyle/>
          <a:p>
            <a:pPr marL="0" indent="0">
              <a:buNone/>
            </a:pPr>
            <a:r>
              <a:rPr lang="en-US" sz="950" dirty="0">
                <a:solidFill>
                  <a:srgbClr val="92400E"/>
                </a:solidFill>
              </a:rPr>
              <a:t>Threat: Server counts the number of blinded points transmitted to infer the client's contact list size.</a:t>
            </a:r>
            <a:endParaRPr lang="en-US" sz="950" dirty="0"/>
          </a:p>
        </p:txBody>
      </p:sp>
      <p:sp>
        <p:nvSpPr>
          <p:cNvPr id="32" name="Shape 30"/>
          <p:cNvSpPr/>
          <p:nvPr/>
        </p:nvSpPr>
        <p:spPr>
          <a:xfrm>
            <a:off x="4663440" y="3429000"/>
            <a:ext cx="64008" cy="713232"/>
          </a:xfrm>
          <a:prstGeom prst="rect">
            <a:avLst/>
          </a:prstGeom>
          <a:solidFill>
            <a:srgbClr val="1D9E75"/>
          </a:solidFill>
          <a:ln w="12700">
            <a:solidFill>
              <a:srgbClr val="1D9E75"/>
            </a:solidFill>
            <a:prstDash val="solid"/>
          </a:ln>
        </p:spPr>
      </p:sp>
      <p:sp>
        <p:nvSpPr>
          <p:cNvPr id="33" name="Text 31"/>
          <p:cNvSpPr/>
          <p:nvPr/>
        </p:nvSpPr>
        <p:spPr>
          <a:xfrm>
            <a:off x="4828032" y="3429000"/>
            <a:ext cx="3977640" cy="713232"/>
          </a:xfrm>
          <a:prstGeom prst="rect">
            <a:avLst/>
          </a:prstGeom>
          <a:noFill/>
          <a:ln/>
        </p:spPr>
        <p:txBody>
          <a:bodyPr wrap="square" rtlCol="0" anchor="ctr"/>
          <a:lstStyle/>
          <a:p>
            <a:pPr marL="0" indent="0">
              <a:buNone/>
            </a:pPr>
            <a:r>
              <a:rPr lang="en-US" sz="950" dirty="0">
                <a:solidFill>
                  <a:srgbClr val="065F46"/>
                </a:solidFill>
              </a:rPr>
              <a:t>Defense: Client pads to a fixed public upper bound Nₘₐₓ using dummy curve points, fully eliminating size leakage.</a:t>
            </a:r>
            <a:endParaRPr lang="en-US" sz="950" dirty="0"/>
          </a:p>
        </p:txBody>
      </p:sp>
      <p:sp>
        <p:nvSpPr>
          <p:cNvPr id="34" name="Shape 32"/>
          <p:cNvSpPr/>
          <p:nvPr/>
        </p:nvSpPr>
        <p:spPr>
          <a:xfrm>
            <a:off x="274320" y="4242816"/>
            <a:ext cx="8595360" cy="420624"/>
          </a:xfrm>
          <a:prstGeom prst="rect">
            <a:avLst/>
          </a:prstGeom>
          <a:solidFill>
            <a:srgbClr val="EFF6FF"/>
          </a:solidFill>
          <a:ln w="12700">
            <a:solidFill>
              <a:srgbClr val="BFDBFE"/>
            </a:solidFill>
            <a:prstDash val="solid"/>
          </a:ln>
        </p:spPr>
      </p:sp>
      <p:sp>
        <p:nvSpPr>
          <p:cNvPr id="35" name="Text 33"/>
          <p:cNvSpPr/>
          <p:nvPr/>
        </p:nvSpPr>
        <p:spPr>
          <a:xfrm>
            <a:off x="411480" y="4242816"/>
            <a:ext cx="8321040" cy="420624"/>
          </a:xfrm>
          <a:prstGeom prst="rect">
            <a:avLst/>
          </a:prstGeom>
          <a:noFill/>
          <a:ln/>
        </p:spPr>
        <p:txBody>
          <a:bodyPr wrap="square" rtlCol="0" anchor="ctr"/>
          <a:lstStyle/>
          <a:p>
            <a:pPr marL="0" indent="0" algn="ctr">
              <a:buNone/>
            </a:pPr>
            <a:r>
              <a:rPr lang="en-US" sz="1050" i="1" dirty="0">
                <a:solidFill>
                  <a:srgbClr val="1E3A5F"/>
                </a:solidFill>
              </a:rPr>
              <a:t>Formal security proof follows Canetti’s UC framework under the ECDLP assumption and the Random Oracle Model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Limitations and future research directions</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11</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713232"/>
            <a:ext cx="4160520" cy="365760"/>
          </a:xfrm>
          <a:prstGeom prst="rect">
            <a:avLst/>
          </a:prstGeom>
          <a:solidFill>
            <a:srgbClr val="FEE2E2"/>
          </a:solidFill>
          <a:ln w="19050">
            <a:solidFill>
              <a:srgbClr val="E53E3E"/>
            </a:solidFill>
            <a:prstDash val="solid"/>
          </a:ln>
        </p:spPr>
      </p:sp>
      <p:sp>
        <p:nvSpPr>
          <p:cNvPr id="7" name="Text 5"/>
          <p:cNvSpPr/>
          <p:nvPr/>
        </p:nvSpPr>
        <p:spPr>
          <a:xfrm>
            <a:off x="274320" y="713232"/>
            <a:ext cx="4160520" cy="365760"/>
          </a:xfrm>
          <a:prstGeom prst="rect">
            <a:avLst/>
          </a:prstGeom>
          <a:noFill/>
          <a:ln/>
        </p:spPr>
        <p:txBody>
          <a:bodyPr wrap="square" lIns="0" tIns="0" rIns="0" bIns="0" rtlCol="0" anchor="ctr"/>
          <a:lstStyle/>
          <a:p>
            <a:pPr marL="0" indent="0" algn="ctr">
              <a:buNone/>
            </a:pPr>
            <a:r>
              <a:rPr lang="en-US" sz="1300" b="1" dirty="0">
                <a:solidFill>
                  <a:srgbClr val="991B1B"/>
                </a:solidFill>
              </a:rPr>
              <a:t>Current limitations</a:t>
            </a:r>
            <a:endParaRPr lang="en-US" sz="1300" dirty="0"/>
          </a:p>
        </p:txBody>
      </p:sp>
      <p:sp>
        <p:nvSpPr>
          <p:cNvPr id="8" name="Shape 6"/>
          <p:cNvSpPr/>
          <p:nvPr/>
        </p:nvSpPr>
        <p:spPr>
          <a:xfrm>
            <a:off x="274320" y="1234440"/>
            <a:ext cx="64008" cy="822960"/>
          </a:xfrm>
          <a:prstGeom prst="rect">
            <a:avLst/>
          </a:prstGeom>
          <a:solidFill>
            <a:srgbClr val="E53E3E"/>
          </a:solidFill>
          <a:ln w="12700">
            <a:solidFill>
              <a:srgbClr val="E53E3E"/>
            </a:solidFill>
            <a:prstDash val="solid"/>
          </a:ln>
        </p:spPr>
      </p:sp>
      <p:sp>
        <p:nvSpPr>
          <p:cNvPr id="9" name="Text 7"/>
          <p:cNvSpPr/>
          <p:nvPr/>
        </p:nvSpPr>
        <p:spPr>
          <a:xfrm>
            <a:off x="457200" y="1188720"/>
            <a:ext cx="3840480" cy="914400"/>
          </a:xfrm>
          <a:prstGeom prst="rect">
            <a:avLst/>
          </a:prstGeom>
          <a:noFill/>
          <a:ln/>
        </p:spPr>
        <p:txBody>
          <a:bodyPr wrap="square" rtlCol="0" anchor="ctr"/>
          <a:lstStyle/>
          <a:p>
            <a:pPr marL="0" indent="0">
              <a:buNone/>
            </a:pPr>
            <a:r>
              <a:rPr lang="en-US" sz="1050" b="1" dirty="0">
                <a:solidFill>
                  <a:srgbClr val="991B1B"/>
                </a:solidFill>
              </a:rPr>
              <a:t>Semi-honest security only
</a:t>
            </a:r>
            <a:r>
              <a:rPr lang="en-US" sz="1050" dirty="0">
                <a:solidFill>
                  <a:srgbClr val="334155"/>
                </a:solidFill>
              </a:rPr>
              <a:t>A malicious server can transmit crafted blinded values to probe specific target identifiers in the client's contact list via a binary search attack.</a:t>
            </a:r>
            <a:endParaRPr lang="en-US" sz="1050" dirty="0"/>
          </a:p>
        </p:txBody>
      </p:sp>
      <p:sp>
        <p:nvSpPr>
          <p:cNvPr id="10" name="Shape 8"/>
          <p:cNvSpPr/>
          <p:nvPr/>
        </p:nvSpPr>
        <p:spPr>
          <a:xfrm>
            <a:off x="274320" y="2286000"/>
            <a:ext cx="64008" cy="822960"/>
          </a:xfrm>
          <a:prstGeom prst="rect">
            <a:avLst/>
          </a:prstGeom>
          <a:solidFill>
            <a:srgbClr val="E53E3E"/>
          </a:solidFill>
          <a:ln w="12700">
            <a:solidFill>
              <a:srgbClr val="E53E3E"/>
            </a:solidFill>
            <a:prstDash val="solid"/>
          </a:ln>
        </p:spPr>
      </p:sp>
      <p:sp>
        <p:nvSpPr>
          <p:cNvPr id="11" name="Text 9"/>
          <p:cNvSpPr/>
          <p:nvPr/>
        </p:nvSpPr>
        <p:spPr>
          <a:xfrm>
            <a:off x="457200" y="2240280"/>
            <a:ext cx="3840480" cy="914400"/>
          </a:xfrm>
          <a:prstGeom prst="rect">
            <a:avLst/>
          </a:prstGeom>
          <a:noFill/>
          <a:ln/>
        </p:spPr>
        <p:txBody>
          <a:bodyPr wrap="square" rtlCol="0" anchor="ctr"/>
          <a:lstStyle/>
          <a:p>
            <a:pPr marL="0" indent="0">
              <a:buNone/>
            </a:pPr>
            <a:r>
              <a:rPr lang="en-US" sz="1050" b="1" dirty="0">
                <a:solidFill>
                  <a:srgbClr val="991B1B"/>
                </a:solidFill>
              </a:rPr>
              <a:t>Attacker-controlled server set
</a:t>
            </a:r>
            <a:r>
              <a:rPr lang="en-US" sz="1050" dirty="0">
                <a:solidFill>
                  <a:srgbClr val="334155"/>
                </a:solidFill>
              </a:rPr>
              <a:t>The protocol does not prevent a malicious server from learning whether a specific identifier is registered if it controls the composition of S.</a:t>
            </a:r>
            <a:endParaRPr lang="en-US" sz="1050" dirty="0"/>
          </a:p>
        </p:txBody>
      </p:sp>
      <p:sp>
        <p:nvSpPr>
          <p:cNvPr id="12" name="Shape 10"/>
          <p:cNvSpPr/>
          <p:nvPr/>
        </p:nvSpPr>
        <p:spPr>
          <a:xfrm>
            <a:off x="274320" y="3337560"/>
            <a:ext cx="64008" cy="822960"/>
          </a:xfrm>
          <a:prstGeom prst="rect">
            <a:avLst/>
          </a:prstGeom>
          <a:solidFill>
            <a:srgbClr val="E53E3E"/>
          </a:solidFill>
          <a:ln w="12700">
            <a:solidFill>
              <a:srgbClr val="E53E3E"/>
            </a:solidFill>
            <a:prstDash val="solid"/>
          </a:ln>
        </p:spPr>
      </p:sp>
      <p:sp>
        <p:nvSpPr>
          <p:cNvPr id="13" name="Text 11"/>
          <p:cNvSpPr/>
          <p:nvPr/>
        </p:nvSpPr>
        <p:spPr>
          <a:xfrm>
            <a:off x="457200" y="3291840"/>
            <a:ext cx="3840480" cy="914400"/>
          </a:xfrm>
          <a:prstGeom prst="rect">
            <a:avLst/>
          </a:prstGeom>
          <a:noFill/>
          <a:ln/>
        </p:spPr>
        <p:txBody>
          <a:bodyPr wrap="square" rtlCol="0" anchor="ctr"/>
          <a:lstStyle/>
          <a:p>
            <a:pPr marL="0" indent="0">
              <a:buNone/>
            </a:pPr>
            <a:r>
              <a:rPr lang="en-US" sz="1050" b="1" dirty="0">
                <a:solidFill>
                  <a:srgbClr val="991B1B"/>
                </a:solidFill>
              </a:rPr>
              <a:t>Python interpreter overhead
</a:t>
            </a:r>
            <a:r>
              <a:rPr lang="en-US" sz="1050" dirty="0">
                <a:solidFill>
                  <a:srgbClr val="334155"/>
                </a:solidFill>
              </a:rPr>
              <a:t>Slight super-linear growth at large n; a native compiled implementation would eliminate this entirely and yield further speed improvements.</a:t>
            </a:r>
            <a:endParaRPr lang="en-US" sz="1050" dirty="0"/>
          </a:p>
        </p:txBody>
      </p:sp>
      <p:sp>
        <p:nvSpPr>
          <p:cNvPr id="14" name="Shape 12"/>
          <p:cNvSpPr/>
          <p:nvPr/>
        </p:nvSpPr>
        <p:spPr>
          <a:xfrm>
            <a:off x="4709160" y="713232"/>
            <a:ext cx="4160520" cy="365760"/>
          </a:xfrm>
          <a:prstGeom prst="rect">
            <a:avLst/>
          </a:prstGeom>
          <a:solidFill>
            <a:srgbClr val="D1FAE5"/>
          </a:solidFill>
          <a:ln w="19050">
            <a:solidFill>
              <a:srgbClr val="1D9E75"/>
            </a:solidFill>
            <a:prstDash val="solid"/>
          </a:ln>
        </p:spPr>
      </p:sp>
      <p:sp>
        <p:nvSpPr>
          <p:cNvPr id="15" name="Text 13"/>
          <p:cNvSpPr/>
          <p:nvPr/>
        </p:nvSpPr>
        <p:spPr>
          <a:xfrm>
            <a:off x="4709160" y="713232"/>
            <a:ext cx="4160520" cy="365760"/>
          </a:xfrm>
          <a:prstGeom prst="rect">
            <a:avLst/>
          </a:prstGeom>
          <a:noFill/>
          <a:ln/>
        </p:spPr>
        <p:txBody>
          <a:bodyPr wrap="square" lIns="0" tIns="0" rIns="0" bIns="0" rtlCol="0" anchor="ctr"/>
          <a:lstStyle/>
          <a:p>
            <a:pPr marL="0" indent="0" algn="ctr">
              <a:buNone/>
            </a:pPr>
            <a:r>
              <a:rPr lang="en-US" sz="1300" b="1" dirty="0">
                <a:solidFill>
                  <a:srgbClr val="065F46"/>
                </a:solidFill>
              </a:rPr>
              <a:t>Future research roadmap</a:t>
            </a:r>
            <a:endParaRPr lang="en-US" sz="1300" dirty="0"/>
          </a:p>
        </p:txBody>
      </p:sp>
      <p:sp>
        <p:nvSpPr>
          <p:cNvPr id="16" name="Shape 14"/>
          <p:cNvSpPr/>
          <p:nvPr/>
        </p:nvSpPr>
        <p:spPr>
          <a:xfrm>
            <a:off x="4709160" y="1261872"/>
            <a:ext cx="274320" cy="274320"/>
          </a:xfrm>
          <a:prstGeom prst="ellipse">
            <a:avLst/>
          </a:prstGeom>
          <a:solidFill>
            <a:srgbClr val="1D9E75"/>
          </a:solidFill>
          <a:ln w="12700">
            <a:solidFill>
              <a:srgbClr val="1D9E75"/>
            </a:solidFill>
            <a:prstDash val="solid"/>
          </a:ln>
        </p:spPr>
      </p:sp>
      <p:sp>
        <p:nvSpPr>
          <p:cNvPr id="17" name="Text 15"/>
          <p:cNvSpPr/>
          <p:nvPr/>
        </p:nvSpPr>
        <p:spPr>
          <a:xfrm>
            <a:off x="4709160" y="1261872"/>
            <a:ext cx="274320" cy="274320"/>
          </a:xfrm>
          <a:prstGeom prst="rect">
            <a:avLst/>
          </a:prstGeom>
          <a:noFill/>
          <a:ln/>
        </p:spPr>
        <p:txBody>
          <a:bodyPr wrap="square" rtlCol="0" anchor="ctr"/>
          <a:lstStyle/>
          <a:p>
            <a:pPr marL="0" indent="0" algn="ctr">
              <a:buNone/>
            </a:pPr>
            <a:r>
              <a:rPr lang="en-US" sz="900" b="1" dirty="0">
                <a:solidFill>
                  <a:srgbClr val="FFFFFF"/>
                </a:solidFill>
              </a:rPr>
              <a:t>1</a:t>
            </a:r>
            <a:endParaRPr lang="en-US" sz="900" dirty="0"/>
          </a:p>
        </p:txBody>
      </p:sp>
      <p:sp>
        <p:nvSpPr>
          <p:cNvPr id="18" name="Text 16"/>
          <p:cNvSpPr/>
          <p:nvPr/>
        </p:nvSpPr>
        <p:spPr>
          <a:xfrm>
            <a:off x="5074920" y="1170432"/>
            <a:ext cx="3703320" cy="512064"/>
          </a:xfrm>
          <a:prstGeom prst="rect">
            <a:avLst/>
          </a:prstGeom>
          <a:noFill/>
          <a:ln/>
        </p:spPr>
        <p:txBody>
          <a:bodyPr wrap="square" rtlCol="0" anchor="ctr"/>
          <a:lstStyle/>
          <a:p>
            <a:pPr marL="0" indent="0">
              <a:buNone/>
            </a:pPr>
            <a:r>
              <a:rPr lang="en-US" sz="1000" dirty="0">
                <a:solidFill>
                  <a:srgbClr val="334155"/>
                </a:solidFill>
              </a:rPr>
              <a:t>Malicious-secure PSI via zero-knowledge proofs of correct scalar multiplication (Ghosh &amp; Nilges, 2019)</a:t>
            </a:r>
            <a:endParaRPr lang="en-US" sz="1000" dirty="0"/>
          </a:p>
        </p:txBody>
      </p:sp>
      <p:sp>
        <p:nvSpPr>
          <p:cNvPr id="19" name="Shape 17"/>
          <p:cNvSpPr/>
          <p:nvPr/>
        </p:nvSpPr>
        <p:spPr>
          <a:xfrm>
            <a:off x="4709160" y="1920240"/>
            <a:ext cx="274320" cy="274320"/>
          </a:xfrm>
          <a:prstGeom prst="ellipse">
            <a:avLst/>
          </a:prstGeom>
          <a:solidFill>
            <a:srgbClr val="1D9E75"/>
          </a:solidFill>
          <a:ln w="12700">
            <a:solidFill>
              <a:srgbClr val="1D9E75"/>
            </a:solidFill>
            <a:prstDash val="solid"/>
          </a:ln>
        </p:spPr>
      </p:sp>
      <p:sp>
        <p:nvSpPr>
          <p:cNvPr id="20" name="Text 18"/>
          <p:cNvSpPr/>
          <p:nvPr/>
        </p:nvSpPr>
        <p:spPr>
          <a:xfrm>
            <a:off x="4709160" y="1920240"/>
            <a:ext cx="274320" cy="274320"/>
          </a:xfrm>
          <a:prstGeom prst="rect">
            <a:avLst/>
          </a:prstGeom>
          <a:noFill/>
          <a:ln/>
        </p:spPr>
        <p:txBody>
          <a:bodyPr wrap="square" rtlCol="0" anchor="ctr"/>
          <a:lstStyle/>
          <a:p>
            <a:pPr marL="0" indent="0" algn="ctr">
              <a:buNone/>
            </a:pPr>
            <a:r>
              <a:rPr lang="en-US" sz="900" b="1" dirty="0">
                <a:solidFill>
                  <a:srgbClr val="FFFFFF"/>
                </a:solidFill>
              </a:rPr>
              <a:t>2</a:t>
            </a:r>
            <a:endParaRPr lang="en-US" sz="900" dirty="0"/>
          </a:p>
        </p:txBody>
      </p:sp>
      <p:sp>
        <p:nvSpPr>
          <p:cNvPr id="21" name="Text 19"/>
          <p:cNvSpPr/>
          <p:nvPr/>
        </p:nvSpPr>
        <p:spPr>
          <a:xfrm>
            <a:off x="5074920" y="1828800"/>
            <a:ext cx="3703320" cy="512064"/>
          </a:xfrm>
          <a:prstGeom prst="rect">
            <a:avLst/>
          </a:prstGeom>
          <a:noFill/>
          <a:ln/>
        </p:spPr>
        <p:txBody>
          <a:bodyPr wrap="square" rtlCol="0" anchor="ctr"/>
          <a:lstStyle/>
          <a:p>
            <a:pPr marL="0" indent="0">
              <a:buNone/>
            </a:pPr>
            <a:r>
              <a:rPr lang="en-US" sz="1000" dirty="0">
                <a:solidFill>
                  <a:srgbClr val="334155"/>
                </a:solidFill>
              </a:rPr>
              <a:t>OPRF integration for universally composable (UC) security guarantees (Canetti, 2001)</a:t>
            </a:r>
            <a:endParaRPr lang="en-US" sz="1000" dirty="0"/>
          </a:p>
        </p:txBody>
      </p:sp>
      <p:sp>
        <p:nvSpPr>
          <p:cNvPr id="22" name="Shape 20"/>
          <p:cNvSpPr/>
          <p:nvPr/>
        </p:nvSpPr>
        <p:spPr>
          <a:xfrm>
            <a:off x="4709160" y="2578608"/>
            <a:ext cx="274320" cy="274320"/>
          </a:xfrm>
          <a:prstGeom prst="ellipse">
            <a:avLst/>
          </a:prstGeom>
          <a:solidFill>
            <a:srgbClr val="1D9E75"/>
          </a:solidFill>
          <a:ln w="12700">
            <a:solidFill>
              <a:srgbClr val="1D9E75"/>
            </a:solidFill>
            <a:prstDash val="solid"/>
          </a:ln>
        </p:spPr>
      </p:sp>
      <p:sp>
        <p:nvSpPr>
          <p:cNvPr id="23" name="Text 21"/>
          <p:cNvSpPr/>
          <p:nvPr/>
        </p:nvSpPr>
        <p:spPr>
          <a:xfrm>
            <a:off x="4709160" y="2578608"/>
            <a:ext cx="274320" cy="274320"/>
          </a:xfrm>
          <a:prstGeom prst="rect">
            <a:avLst/>
          </a:prstGeom>
          <a:noFill/>
          <a:ln/>
        </p:spPr>
        <p:txBody>
          <a:bodyPr wrap="square" rtlCol="0" anchor="ctr"/>
          <a:lstStyle/>
          <a:p>
            <a:pPr marL="0" indent="0" algn="ctr">
              <a:buNone/>
            </a:pPr>
            <a:r>
              <a:rPr lang="en-US" sz="900" b="1" dirty="0">
                <a:solidFill>
                  <a:srgbClr val="FFFFFF"/>
                </a:solidFill>
              </a:rPr>
              <a:t>3</a:t>
            </a:r>
            <a:endParaRPr lang="en-US" sz="900" dirty="0"/>
          </a:p>
        </p:txBody>
      </p:sp>
      <p:sp>
        <p:nvSpPr>
          <p:cNvPr id="24" name="Text 22"/>
          <p:cNvSpPr/>
          <p:nvPr/>
        </p:nvSpPr>
        <p:spPr>
          <a:xfrm>
            <a:off x="5074920" y="2487168"/>
            <a:ext cx="3703320" cy="512064"/>
          </a:xfrm>
          <a:prstGeom prst="rect">
            <a:avLst/>
          </a:prstGeom>
          <a:noFill/>
          <a:ln/>
        </p:spPr>
        <p:txBody>
          <a:bodyPr wrap="square" rtlCol="0" anchor="ctr"/>
          <a:lstStyle/>
          <a:p>
            <a:pPr marL="0" indent="0">
              <a:buNone/>
            </a:pPr>
            <a:r>
              <a:rPr lang="en-US" sz="1000" dirty="0">
                <a:solidFill>
                  <a:srgbClr val="334155"/>
                </a:solidFill>
              </a:rPr>
              <a:t>Distributed PSI for federated server architectures — no single node learns the full intersection</a:t>
            </a:r>
            <a:endParaRPr lang="en-US" sz="1000" dirty="0"/>
          </a:p>
        </p:txBody>
      </p:sp>
      <p:sp>
        <p:nvSpPr>
          <p:cNvPr id="25" name="Shape 23"/>
          <p:cNvSpPr/>
          <p:nvPr/>
        </p:nvSpPr>
        <p:spPr>
          <a:xfrm>
            <a:off x="4709160" y="3236976"/>
            <a:ext cx="274320" cy="274320"/>
          </a:xfrm>
          <a:prstGeom prst="ellipse">
            <a:avLst/>
          </a:prstGeom>
          <a:solidFill>
            <a:srgbClr val="1D9E75"/>
          </a:solidFill>
          <a:ln w="12700">
            <a:solidFill>
              <a:srgbClr val="1D9E75"/>
            </a:solidFill>
            <a:prstDash val="solid"/>
          </a:ln>
        </p:spPr>
      </p:sp>
      <p:sp>
        <p:nvSpPr>
          <p:cNvPr id="26" name="Text 24"/>
          <p:cNvSpPr/>
          <p:nvPr/>
        </p:nvSpPr>
        <p:spPr>
          <a:xfrm>
            <a:off x="4709160" y="3236976"/>
            <a:ext cx="274320" cy="274320"/>
          </a:xfrm>
          <a:prstGeom prst="rect">
            <a:avLst/>
          </a:prstGeom>
          <a:noFill/>
          <a:ln/>
        </p:spPr>
        <p:txBody>
          <a:bodyPr wrap="square" rtlCol="0" anchor="ctr"/>
          <a:lstStyle/>
          <a:p>
            <a:pPr marL="0" indent="0" algn="ctr">
              <a:buNone/>
            </a:pPr>
            <a:r>
              <a:rPr lang="en-US" sz="900" b="1" dirty="0">
                <a:solidFill>
                  <a:srgbClr val="FFFFFF"/>
                </a:solidFill>
              </a:rPr>
              <a:t>4</a:t>
            </a:r>
            <a:endParaRPr lang="en-US" sz="900" dirty="0"/>
          </a:p>
        </p:txBody>
      </p:sp>
      <p:sp>
        <p:nvSpPr>
          <p:cNvPr id="27" name="Text 25"/>
          <p:cNvSpPr/>
          <p:nvPr/>
        </p:nvSpPr>
        <p:spPr>
          <a:xfrm>
            <a:off x="5074920" y="3145536"/>
            <a:ext cx="3703320" cy="512064"/>
          </a:xfrm>
          <a:prstGeom prst="rect">
            <a:avLst/>
          </a:prstGeom>
          <a:noFill/>
          <a:ln/>
        </p:spPr>
        <p:txBody>
          <a:bodyPr wrap="square" rtlCol="0" anchor="ctr"/>
          <a:lstStyle/>
          <a:p>
            <a:pPr marL="0" indent="0">
              <a:buNone/>
            </a:pPr>
            <a:r>
              <a:rPr lang="en-US" sz="1000" dirty="0">
                <a:solidFill>
                  <a:srgbClr val="334155"/>
                </a:solidFill>
              </a:rPr>
              <a:t>Mobile optimization using ARM CryptoCell hardware-accelerated ECC — projected 60–80% latency reduction</a:t>
            </a:r>
            <a:endParaRPr lang="en-US" sz="1000" dirty="0"/>
          </a:p>
        </p:txBody>
      </p:sp>
      <p:sp>
        <p:nvSpPr>
          <p:cNvPr id="28" name="Shape 26"/>
          <p:cNvSpPr/>
          <p:nvPr/>
        </p:nvSpPr>
        <p:spPr>
          <a:xfrm>
            <a:off x="4709160" y="3895344"/>
            <a:ext cx="274320" cy="274320"/>
          </a:xfrm>
          <a:prstGeom prst="ellipse">
            <a:avLst/>
          </a:prstGeom>
          <a:solidFill>
            <a:srgbClr val="1D9E75"/>
          </a:solidFill>
          <a:ln w="12700">
            <a:solidFill>
              <a:srgbClr val="1D9E75"/>
            </a:solidFill>
            <a:prstDash val="solid"/>
          </a:ln>
        </p:spPr>
      </p:sp>
      <p:sp>
        <p:nvSpPr>
          <p:cNvPr id="29" name="Text 27"/>
          <p:cNvSpPr/>
          <p:nvPr/>
        </p:nvSpPr>
        <p:spPr>
          <a:xfrm>
            <a:off x="4709160" y="3895344"/>
            <a:ext cx="274320" cy="274320"/>
          </a:xfrm>
          <a:prstGeom prst="rect">
            <a:avLst/>
          </a:prstGeom>
          <a:noFill/>
          <a:ln/>
        </p:spPr>
        <p:txBody>
          <a:bodyPr wrap="square" rtlCol="0" anchor="ctr"/>
          <a:lstStyle/>
          <a:p>
            <a:pPr marL="0" indent="0" algn="ctr">
              <a:buNone/>
            </a:pPr>
            <a:r>
              <a:rPr lang="en-US" sz="900" b="1" dirty="0">
                <a:solidFill>
                  <a:srgbClr val="FFFFFF"/>
                </a:solidFill>
              </a:rPr>
              <a:t>5</a:t>
            </a:r>
            <a:endParaRPr lang="en-US" sz="900" dirty="0"/>
          </a:p>
        </p:txBody>
      </p:sp>
      <p:sp>
        <p:nvSpPr>
          <p:cNvPr id="30" name="Text 28"/>
          <p:cNvSpPr/>
          <p:nvPr/>
        </p:nvSpPr>
        <p:spPr>
          <a:xfrm>
            <a:off x="5074920" y="3803904"/>
            <a:ext cx="3703320" cy="512064"/>
          </a:xfrm>
          <a:prstGeom prst="rect">
            <a:avLst/>
          </a:prstGeom>
          <a:noFill/>
          <a:ln/>
        </p:spPr>
        <p:txBody>
          <a:bodyPr wrap="square" rtlCol="0" anchor="ctr"/>
          <a:lstStyle/>
          <a:p>
            <a:pPr marL="0" indent="0">
              <a:buNone/>
            </a:pPr>
            <a:r>
              <a:rPr lang="en-US" sz="1000" dirty="0">
                <a:solidFill>
                  <a:srgbClr val="334155"/>
                </a:solidFill>
              </a:rPr>
              <a:t>Fuzzy PSI to support approximate matching of non-canonical international number formats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8"/>
          </a:solidFill>
          <a:ln w="12700">
            <a:solidFill>
              <a:srgbClr val="0A1628"/>
            </a:solidFill>
            <a:prstDash val="solid"/>
          </a:ln>
        </p:spPr>
      </p:sp>
      <p:sp>
        <p:nvSpPr>
          <p:cNvPr id="3" name="Text 1"/>
          <p:cNvSpPr/>
          <p:nvPr/>
        </p:nvSpPr>
        <p:spPr>
          <a:xfrm>
            <a:off x="274320" y="0"/>
            <a:ext cx="8412480" cy="566928"/>
          </a:xfrm>
          <a:prstGeom prst="rect">
            <a:avLst/>
          </a:prstGeom>
          <a:noFill/>
          <a:ln/>
        </p:spPr>
        <p:txBody>
          <a:bodyPr wrap="square" lIns="0" tIns="0" rIns="0" bIns="0" rtlCol="0" anchor="ctr"/>
          <a:lstStyle/>
          <a:p>
            <a:pPr marL="0" indent="0">
              <a:buNone/>
            </a:pPr>
            <a:r>
              <a:rPr lang="en-US" sz="1800" b="1" dirty="0">
                <a:solidFill>
                  <a:srgbClr val="FFFFFF"/>
                </a:solidFill>
              </a:rPr>
              <a:t>Conclusion and key takeaways</a:t>
            </a:r>
            <a:endParaRPr lang="en-US" sz="1800" dirty="0"/>
          </a:p>
        </p:txBody>
      </p:sp>
      <p:sp>
        <p:nvSpPr>
          <p:cNvPr id="4" name="Text 2"/>
          <p:cNvSpPr/>
          <p:nvPr/>
        </p:nvSpPr>
        <p:spPr>
          <a:xfrm>
            <a:off x="8503920" y="4828032"/>
            <a:ext cx="457200" cy="228600"/>
          </a:xfrm>
          <a:prstGeom prst="rect">
            <a:avLst/>
          </a:prstGeom>
          <a:noFill/>
          <a:ln/>
        </p:spPr>
        <p:txBody>
          <a:bodyPr wrap="square" rtlCol="0" anchor="ctr"/>
          <a:lstStyle/>
          <a:p>
            <a:pPr marL="0" indent="0" algn="r">
              <a:buNone/>
            </a:pPr>
            <a:r>
              <a:rPr lang="en-US" sz="900" dirty="0">
                <a:solidFill>
                  <a:srgbClr val="94A3B8"/>
                </a:solidFill>
              </a:rPr>
              <a:t>12</a:t>
            </a:r>
            <a:endParaRPr lang="en-US" sz="900" dirty="0"/>
          </a:p>
        </p:txBody>
      </p:sp>
      <p:sp>
        <p:nvSpPr>
          <p:cNvPr id="5" name="Text 3"/>
          <p:cNvSpPr/>
          <p:nvPr/>
        </p:nvSpPr>
        <p:spPr>
          <a:xfrm>
            <a:off x="274320" y="4828032"/>
            <a:ext cx="6400800" cy="228600"/>
          </a:xfrm>
          <a:prstGeom prst="rect">
            <a:avLst/>
          </a:prstGeom>
          <a:noFill/>
          <a:ln/>
        </p:spPr>
        <p:txBody>
          <a:bodyPr wrap="square" rtlCol="0" anchor="ctr"/>
          <a:lstStyle/>
          <a:p>
            <a:pPr marL="0" indent="0">
              <a:buNone/>
            </a:pPr>
            <a:r>
              <a:rPr lang="en-US" sz="900" dirty="0">
                <a:solidFill>
                  <a:srgbClr val="94A3B8"/>
                </a:solidFill>
              </a:rPr>
              <a:t>Department of Computer Science  |  XYZ University</a:t>
            </a:r>
            <a:endParaRPr lang="en-US" sz="900" dirty="0"/>
          </a:p>
        </p:txBody>
      </p:sp>
      <p:sp>
        <p:nvSpPr>
          <p:cNvPr id="6" name="Shape 4"/>
          <p:cNvSpPr/>
          <p:nvPr/>
        </p:nvSpPr>
        <p:spPr>
          <a:xfrm>
            <a:off x="274320" y="841248"/>
            <a:ext cx="438912" cy="438912"/>
          </a:xfrm>
          <a:prstGeom prst="ellipse">
            <a:avLst/>
          </a:prstGeom>
          <a:solidFill>
            <a:srgbClr val="1D9E75"/>
          </a:solidFill>
          <a:ln w="12700">
            <a:solidFill>
              <a:srgbClr val="1D9E75"/>
            </a:solidFill>
            <a:prstDash val="solid"/>
          </a:ln>
        </p:spPr>
      </p:sp>
      <p:sp>
        <p:nvSpPr>
          <p:cNvPr id="7" name="Text 5"/>
          <p:cNvSpPr/>
          <p:nvPr/>
        </p:nvSpPr>
        <p:spPr>
          <a:xfrm>
            <a:off x="274320" y="841248"/>
            <a:ext cx="438912" cy="438912"/>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8" name="Shape 6"/>
          <p:cNvSpPr/>
          <p:nvPr/>
        </p:nvSpPr>
        <p:spPr>
          <a:xfrm>
            <a:off x="841248" y="749808"/>
            <a:ext cx="8028432" cy="566928"/>
          </a:xfrm>
          <a:prstGeom prst="rect">
            <a:avLst/>
          </a:prstGeom>
          <a:solidFill>
            <a:srgbClr val="F8FAFC"/>
          </a:solidFill>
          <a:ln w="12700">
            <a:solidFill>
              <a:srgbClr val="E2E8F0"/>
            </a:solidFill>
            <a:prstDash val="solid"/>
          </a:ln>
        </p:spPr>
      </p:sp>
      <p:sp>
        <p:nvSpPr>
          <p:cNvPr id="9" name="Text 7"/>
          <p:cNvSpPr/>
          <p:nvPr/>
        </p:nvSpPr>
        <p:spPr>
          <a:xfrm>
            <a:off x="969264" y="749808"/>
            <a:ext cx="7772400" cy="566928"/>
          </a:xfrm>
          <a:prstGeom prst="rect">
            <a:avLst/>
          </a:prstGeom>
          <a:noFill/>
          <a:ln/>
        </p:spPr>
        <p:txBody>
          <a:bodyPr wrap="square" rtlCol="0" anchor="ctr"/>
          <a:lstStyle/>
          <a:p>
            <a:pPr marL="0" indent="0">
              <a:buNone/>
            </a:pPr>
            <a:r>
              <a:rPr lang="en-US" sz="1150" b="1" dirty="0">
                <a:solidFill>
                  <a:srgbClr val="0A1628"/>
                </a:solidFill>
              </a:rPr>
              <a:t>Four-phase ECDH-PSI protocol  —  </a:t>
            </a:r>
            <a:r>
              <a:rPr lang="en-US" sz="1150" dirty="0">
                <a:solidFill>
                  <a:srgbClr val="334155"/>
                </a:solidFill>
              </a:rPr>
              <a:t>Enables contact discovery without uploading raw contact data to any server at any point.</a:t>
            </a:r>
            <a:endParaRPr lang="en-US" sz="1150" dirty="0"/>
          </a:p>
        </p:txBody>
      </p:sp>
      <p:sp>
        <p:nvSpPr>
          <p:cNvPr id="10" name="Shape 8"/>
          <p:cNvSpPr/>
          <p:nvPr/>
        </p:nvSpPr>
        <p:spPr>
          <a:xfrm>
            <a:off x="274320" y="1499616"/>
            <a:ext cx="438912" cy="438912"/>
          </a:xfrm>
          <a:prstGeom prst="ellipse">
            <a:avLst/>
          </a:prstGeom>
          <a:solidFill>
            <a:srgbClr val="1D9E75"/>
          </a:solidFill>
          <a:ln w="12700">
            <a:solidFill>
              <a:srgbClr val="1D9E75"/>
            </a:solidFill>
            <a:prstDash val="solid"/>
          </a:ln>
        </p:spPr>
      </p:sp>
      <p:sp>
        <p:nvSpPr>
          <p:cNvPr id="11" name="Text 9"/>
          <p:cNvSpPr/>
          <p:nvPr/>
        </p:nvSpPr>
        <p:spPr>
          <a:xfrm>
            <a:off x="274320" y="1499616"/>
            <a:ext cx="438912" cy="438912"/>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2" name="Shape 10"/>
          <p:cNvSpPr/>
          <p:nvPr/>
        </p:nvSpPr>
        <p:spPr>
          <a:xfrm>
            <a:off x="841248" y="1408176"/>
            <a:ext cx="8028432" cy="566928"/>
          </a:xfrm>
          <a:prstGeom prst="rect">
            <a:avLst/>
          </a:prstGeom>
          <a:solidFill>
            <a:srgbClr val="F8FAFC"/>
          </a:solidFill>
          <a:ln w="12700">
            <a:solidFill>
              <a:srgbClr val="E2E8F0"/>
            </a:solidFill>
            <a:prstDash val="solid"/>
          </a:ln>
        </p:spPr>
      </p:sp>
      <p:sp>
        <p:nvSpPr>
          <p:cNvPr id="13" name="Text 11"/>
          <p:cNvSpPr/>
          <p:nvPr/>
        </p:nvSpPr>
        <p:spPr>
          <a:xfrm>
            <a:off x="969264" y="1408176"/>
            <a:ext cx="7772400" cy="566928"/>
          </a:xfrm>
          <a:prstGeom prst="rect">
            <a:avLst/>
          </a:prstGeom>
          <a:noFill/>
          <a:ln/>
        </p:spPr>
        <p:txBody>
          <a:bodyPr wrap="square" rtlCol="0" anchor="ctr"/>
          <a:lstStyle/>
          <a:p>
            <a:pPr marL="0" indent="0">
              <a:buNone/>
            </a:pPr>
            <a:r>
              <a:rPr lang="en-US" sz="1150" b="1" dirty="0">
                <a:solidFill>
                  <a:srgbClr val="0A1628"/>
                </a:solidFill>
              </a:rPr>
              <a:t>Formally proven secure  —  </a:t>
            </a:r>
            <a:r>
              <a:rPr lang="en-US" sz="1150" dirty="0">
                <a:solidFill>
                  <a:srgbClr val="334155"/>
                </a:solidFill>
              </a:rPr>
              <a:t>Under the semi-honest adversarial model, ECDLP assumption, and the Random Oracle Model.</a:t>
            </a:r>
            <a:endParaRPr lang="en-US" sz="1150" dirty="0"/>
          </a:p>
        </p:txBody>
      </p:sp>
      <p:sp>
        <p:nvSpPr>
          <p:cNvPr id="14" name="Shape 12"/>
          <p:cNvSpPr/>
          <p:nvPr/>
        </p:nvSpPr>
        <p:spPr>
          <a:xfrm>
            <a:off x="274320" y="2157984"/>
            <a:ext cx="438912" cy="438912"/>
          </a:xfrm>
          <a:prstGeom prst="ellipse">
            <a:avLst/>
          </a:prstGeom>
          <a:solidFill>
            <a:srgbClr val="1D9E75"/>
          </a:solidFill>
          <a:ln w="12700">
            <a:solidFill>
              <a:srgbClr val="1D9E75"/>
            </a:solidFill>
            <a:prstDash val="solid"/>
          </a:ln>
        </p:spPr>
      </p:sp>
      <p:sp>
        <p:nvSpPr>
          <p:cNvPr id="15" name="Text 13"/>
          <p:cNvSpPr/>
          <p:nvPr/>
        </p:nvSpPr>
        <p:spPr>
          <a:xfrm>
            <a:off x="274320" y="2157984"/>
            <a:ext cx="438912" cy="438912"/>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6" name="Shape 14"/>
          <p:cNvSpPr/>
          <p:nvPr/>
        </p:nvSpPr>
        <p:spPr>
          <a:xfrm>
            <a:off x="841248" y="2066544"/>
            <a:ext cx="8028432" cy="566928"/>
          </a:xfrm>
          <a:prstGeom prst="rect">
            <a:avLst/>
          </a:prstGeom>
          <a:solidFill>
            <a:srgbClr val="F8FAFC"/>
          </a:solidFill>
          <a:ln w="12700">
            <a:solidFill>
              <a:srgbClr val="E2E8F0"/>
            </a:solidFill>
            <a:prstDash val="solid"/>
          </a:ln>
        </p:spPr>
      </p:sp>
      <p:sp>
        <p:nvSpPr>
          <p:cNvPr id="17" name="Text 15"/>
          <p:cNvSpPr/>
          <p:nvPr/>
        </p:nvSpPr>
        <p:spPr>
          <a:xfrm>
            <a:off x="969264" y="2066544"/>
            <a:ext cx="7772400" cy="566928"/>
          </a:xfrm>
          <a:prstGeom prst="rect">
            <a:avLst/>
          </a:prstGeom>
          <a:noFill/>
          <a:ln/>
        </p:spPr>
        <p:txBody>
          <a:bodyPr wrap="square" rtlCol="0" anchor="ctr"/>
          <a:lstStyle/>
          <a:p>
            <a:pPr marL="0" indent="0">
              <a:buNone/>
            </a:pPr>
            <a:r>
              <a:rPr lang="en-US" sz="1150" b="1" dirty="0">
                <a:solidFill>
                  <a:srgbClr val="0A1628"/>
                </a:solidFill>
              </a:rPr>
              <a:t>7.2× faster, 4.4× less data  —  </a:t>
            </a:r>
            <a:r>
              <a:rPr lang="en-US" sz="1150" dirty="0">
                <a:solidFill>
                  <a:srgbClr val="334155"/>
                </a:solidFill>
              </a:rPr>
              <a:t>Confirmed across dataset sizes 100–5,000 contacts vs RSA-based PSI baseline.</a:t>
            </a:r>
            <a:endParaRPr lang="en-US" sz="1150" dirty="0"/>
          </a:p>
        </p:txBody>
      </p:sp>
      <p:sp>
        <p:nvSpPr>
          <p:cNvPr id="18" name="Shape 16"/>
          <p:cNvSpPr/>
          <p:nvPr/>
        </p:nvSpPr>
        <p:spPr>
          <a:xfrm>
            <a:off x="274320" y="2816352"/>
            <a:ext cx="438912" cy="438912"/>
          </a:xfrm>
          <a:prstGeom prst="ellipse">
            <a:avLst/>
          </a:prstGeom>
          <a:solidFill>
            <a:srgbClr val="1D9E75"/>
          </a:solidFill>
          <a:ln w="12700">
            <a:solidFill>
              <a:srgbClr val="1D9E75"/>
            </a:solidFill>
            <a:prstDash val="solid"/>
          </a:ln>
        </p:spPr>
      </p:sp>
      <p:sp>
        <p:nvSpPr>
          <p:cNvPr id="19" name="Text 17"/>
          <p:cNvSpPr/>
          <p:nvPr/>
        </p:nvSpPr>
        <p:spPr>
          <a:xfrm>
            <a:off x="274320" y="2816352"/>
            <a:ext cx="438912" cy="438912"/>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0" name="Shape 18"/>
          <p:cNvSpPr/>
          <p:nvPr/>
        </p:nvSpPr>
        <p:spPr>
          <a:xfrm>
            <a:off x="841248" y="2724912"/>
            <a:ext cx="8028432" cy="566928"/>
          </a:xfrm>
          <a:prstGeom prst="rect">
            <a:avLst/>
          </a:prstGeom>
          <a:solidFill>
            <a:srgbClr val="F8FAFC"/>
          </a:solidFill>
          <a:ln w="12700">
            <a:solidFill>
              <a:srgbClr val="E2E8F0"/>
            </a:solidFill>
            <a:prstDash val="solid"/>
          </a:ln>
        </p:spPr>
      </p:sp>
      <p:sp>
        <p:nvSpPr>
          <p:cNvPr id="21" name="Text 19"/>
          <p:cNvSpPr/>
          <p:nvPr/>
        </p:nvSpPr>
        <p:spPr>
          <a:xfrm>
            <a:off x="969264" y="2724912"/>
            <a:ext cx="7772400" cy="566928"/>
          </a:xfrm>
          <a:prstGeom prst="rect">
            <a:avLst/>
          </a:prstGeom>
          <a:noFill/>
          <a:ln/>
        </p:spPr>
        <p:txBody>
          <a:bodyPr wrap="square" rtlCol="0" anchor="ctr"/>
          <a:lstStyle/>
          <a:p>
            <a:pPr marL="0" indent="0">
              <a:buNone/>
            </a:pPr>
            <a:r>
              <a:rPr lang="en-US" sz="1150" b="1" dirty="0">
                <a:solidFill>
                  <a:srgbClr val="0A1628"/>
                </a:solidFill>
              </a:rPr>
              <a:t>Practically deployable today  —  </a:t>
            </a:r>
            <a:r>
              <a:rPr lang="en-US" sz="1150" dirty="0">
                <a:solidFill>
                  <a:srgbClr val="334155"/>
                </a:solidFill>
              </a:rPr>
              <a:t>Python prototype fits within existing HTTPS/TLS infrastructure with no changes to authentication layers.</a:t>
            </a:r>
            <a:endParaRPr lang="en-US" sz="1150" dirty="0"/>
          </a:p>
        </p:txBody>
      </p:sp>
      <p:sp>
        <p:nvSpPr>
          <p:cNvPr id="22" name="Shape 20"/>
          <p:cNvSpPr/>
          <p:nvPr/>
        </p:nvSpPr>
        <p:spPr>
          <a:xfrm>
            <a:off x="274320" y="3474720"/>
            <a:ext cx="438912" cy="438912"/>
          </a:xfrm>
          <a:prstGeom prst="ellipse">
            <a:avLst/>
          </a:prstGeom>
          <a:solidFill>
            <a:srgbClr val="1D9E75"/>
          </a:solidFill>
          <a:ln w="12700">
            <a:solidFill>
              <a:srgbClr val="1D9E75"/>
            </a:solidFill>
            <a:prstDash val="solid"/>
          </a:ln>
        </p:spPr>
      </p:sp>
      <p:sp>
        <p:nvSpPr>
          <p:cNvPr id="23" name="Text 21"/>
          <p:cNvSpPr/>
          <p:nvPr/>
        </p:nvSpPr>
        <p:spPr>
          <a:xfrm>
            <a:off x="274320" y="3474720"/>
            <a:ext cx="438912" cy="438912"/>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24" name="Shape 22"/>
          <p:cNvSpPr/>
          <p:nvPr/>
        </p:nvSpPr>
        <p:spPr>
          <a:xfrm>
            <a:off x="841248" y="3383280"/>
            <a:ext cx="8028432" cy="566928"/>
          </a:xfrm>
          <a:prstGeom prst="rect">
            <a:avLst/>
          </a:prstGeom>
          <a:solidFill>
            <a:srgbClr val="F8FAFC"/>
          </a:solidFill>
          <a:ln w="12700">
            <a:solidFill>
              <a:srgbClr val="E2E8F0"/>
            </a:solidFill>
            <a:prstDash val="solid"/>
          </a:ln>
        </p:spPr>
      </p:sp>
      <p:sp>
        <p:nvSpPr>
          <p:cNvPr id="25" name="Text 23"/>
          <p:cNvSpPr/>
          <p:nvPr/>
        </p:nvSpPr>
        <p:spPr>
          <a:xfrm>
            <a:off x="969264" y="3383280"/>
            <a:ext cx="7772400" cy="566928"/>
          </a:xfrm>
          <a:prstGeom prst="rect">
            <a:avLst/>
          </a:prstGeom>
          <a:noFill/>
          <a:ln/>
        </p:spPr>
        <p:txBody>
          <a:bodyPr wrap="square" rtlCol="0" anchor="ctr"/>
          <a:lstStyle/>
          <a:p>
            <a:pPr marL="0" indent="0">
              <a:buNone/>
            </a:pPr>
            <a:r>
              <a:rPr lang="en-US" sz="1150" b="1" dirty="0">
                <a:solidFill>
                  <a:srgbClr val="0A1628"/>
                </a:solidFill>
              </a:rPr>
              <a:t>Clear upgrade path  —  </a:t>
            </a:r>
            <a:r>
              <a:rPr lang="en-US" sz="1150" dirty="0">
                <a:solidFill>
                  <a:srgbClr val="334155"/>
                </a:solidFill>
              </a:rPr>
              <a:t>Well-defined route to malicious-model security via zero-knowledge proofs in future work.</a:t>
            </a:r>
            <a:endParaRPr lang="en-US" sz="1150" dirty="0"/>
          </a:p>
        </p:txBody>
      </p:sp>
      <p:sp>
        <p:nvSpPr>
          <p:cNvPr id="26" name="Shape 24"/>
          <p:cNvSpPr/>
          <p:nvPr/>
        </p:nvSpPr>
        <p:spPr>
          <a:xfrm>
            <a:off x="0" y="4206240"/>
            <a:ext cx="9144000" cy="713232"/>
          </a:xfrm>
          <a:prstGeom prst="rect">
            <a:avLst/>
          </a:prstGeom>
          <a:solidFill>
            <a:srgbClr val="0A1628"/>
          </a:solidFill>
          <a:ln w="12700">
            <a:solidFill>
              <a:srgbClr val="0A1628"/>
            </a:solidFill>
            <a:prstDash val="solid"/>
          </a:ln>
        </p:spPr>
      </p:sp>
      <p:sp>
        <p:nvSpPr>
          <p:cNvPr id="27" name="Text 25"/>
          <p:cNvSpPr/>
          <p:nvPr/>
        </p:nvSpPr>
        <p:spPr>
          <a:xfrm>
            <a:off x="365760" y="4206240"/>
            <a:ext cx="8412480" cy="713232"/>
          </a:xfrm>
          <a:prstGeom prst="rect">
            <a:avLst/>
          </a:prstGeom>
          <a:noFill/>
          <a:ln/>
        </p:spPr>
        <p:txBody>
          <a:bodyPr wrap="square" rtlCol="0" anchor="ctr"/>
          <a:lstStyle/>
          <a:p>
            <a:pPr marL="0" indent="0" algn="ctr">
              <a:buNone/>
            </a:pPr>
            <a:r>
              <a:rPr lang="en-US" sz="1050" i="1" dirty="0">
                <a:solidFill>
                  <a:srgbClr val="9FE1CB"/>
                </a:solidFill>
              </a:rPr>
              <a:t>“A practical, immediately deployable foundation for privacy-preserving contact discovery in modern messaging infrastructure.”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2084</Words>
  <Application>Microsoft Office PowerPoint</Application>
  <PresentationFormat>On-screen Show (16:9)</PresentationFormat>
  <Paragraphs>297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Contact Discovery</dc:title>
  <dc:subject>PptxGenJS Presentation</dc:subject>
  <dc:creator>PptxGenJS</dc:creator>
  <cp:lastModifiedBy>Aniket Singh</cp:lastModifiedBy>
  <cp:revision>1</cp:revision>
  <dcterms:created xsi:type="dcterms:W3CDTF">2026-03-23T13:07:20Z</dcterms:created>
  <dcterms:modified xsi:type="dcterms:W3CDTF">2026-03-23T17:29:29Z</dcterms:modified>
</cp:coreProperties>
</file>